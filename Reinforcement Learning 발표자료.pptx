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64" r:id="rId11"/>
    <p:sldId id="265" r:id="rId12"/>
    <p:sldId id="266" r:id="rId13"/>
    <p:sldId id="268" r:id="rId14"/>
    <p:sldId id="269" r:id="rId15"/>
    <p:sldId id="267" r:id="rId16"/>
    <p:sldId id="270" r:id="rId17"/>
    <p:sldId id="280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429" autoAdjust="0"/>
  </p:normalViewPr>
  <p:slideViewPr>
    <p:cSldViewPr snapToGrid="0">
      <p:cViewPr varScale="1">
        <p:scale>
          <a:sx n="90" d="100"/>
          <a:sy n="90" d="100"/>
        </p:scale>
        <p:origin x="13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8A562-0E50-4E5A-88C9-8AA403081CEC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4F0EE-84CF-4E30-AA04-565FE92A76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98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알파고</a:t>
            </a:r>
            <a:r>
              <a:rPr lang="ko-KR" altLang="en-US" dirty="0"/>
              <a:t> 아시죠</a:t>
            </a:r>
            <a:r>
              <a:rPr lang="en-US" altLang="ko-KR" dirty="0"/>
              <a:t>? </a:t>
            </a:r>
            <a:r>
              <a:rPr lang="ko-KR" altLang="en-US" dirty="0"/>
              <a:t>강화학습은 요즘 </a:t>
            </a:r>
            <a:r>
              <a:rPr lang="ko-KR" altLang="en-US" dirty="0" err="1"/>
              <a:t>대세죠</a:t>
            </a:r>
            <a:r>
              <a:rPr lang="en-US" altLang="ko-KR" dirty="0"/>
              <a:t>. </a:t>
            </a:r>
            <a:r>
              <a:rPr lang="ko-KR" altLang="en-US" dirty="0"/>
              <a:t>그래서 최근 인공지능</a:t>
            </a:r>
            <a:r>
              <a:rPr lang="en-US" altLang="ko-KR" dirty="0"/>
              <a:t>/</a:t>
            </a:r>
            <a:r>
              <a:rPr lang="ko-KR" altLang="en-US" dirty="0" err="1"/>
              <a:t>머신러닝</a:t>
            </a:r>
            <a:r>
              <a:rPr lang="ko-KR" altLang="en-US" dirty="0"/>
              <a:t> 분야에서 많은 주목을 받고 있는 강화학습에 대해 간단한 입문자료를 만들어봤습니다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4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강아지들 훈련시킬 때 어떻게 하나요</a:t>
            </a:r>
            <a:r>
              <a:rPr lang="en-US" altLang="ko-KR" dirty="0"/>
              <a:t>? </a:t>
            </a:r>
            <a:r>
              <a:rPr lang="ko-KR" altLang="en-US" dirty="0"/>
              <a:t>잘한 것은 상을 주고 못한 것은 혼을 내서 가르치죠</a:t>
            </a:r>
            <a:r>
              <a:rPr lang="en-US" altLang="ko-KR" dirty="0"/>
              <a:t>? </a:t>
            </a:r>
            <a:r>
              <a:rPr lang="ko-KR" altLang="en-US" dirty="0"/>
              <a:t>강화학습은 이처럼 컴퓨터에게 상과 벌을 줘서 가르치는 방법입니다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저는 먼저 의사결정 문제를 </a:t>
            </a:r>
            <a:r>
              <a:rPr lang="ko-KR" altLang="en-US" dirty="0" err="1"/>
              <a:t>모델할</a:t>
            </a:r>
            <a:r>
              <a:rPr lang="ko-KR" altLang="en-US" dirty="0"/>
              <a:t> 때 쓰이는 </a:t>
            </a:r>
            <a:r>
              <a:rPr lang="en-US" altLang="ko-KR" dirty="0"/>
              <a:t>Markov Decision Process</a:t>
            </a:r>
            <a:r>
              <a:rPr lang="ko-KR" altLang="en-US" dirty="0"/>
              <a:t>에 대해 설명하고</a:t>
            </a:r>
            <a:r>
              <a:rPr lang="en-US" altLang="ko-KR" dirty="0"/>
              <a:t>, </a:t>
            </a:r>
            <a:r>
              <a:rPr lang="ko-KR" altLang="en-US" dirty="0"/>
              <a:t>강화학습을 이루고 있는 여러가지 요소들을 설명하겠습니다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후에는 이런 </a:t>
            </a:r>
            <a:r>
              <a:rPr lang="en-US" altLang="ko-KR" dirty="0"/>
              <a:t>MDP</a:t>
            </a:r>
            <a:r>
              <a:rPr lang="ko-KR" altLang="en-US" dirty="0"/>
              <a:t>의 해답을 찾을 때 사용하는 방법 중 하나인 </a:t>
            </a:r>
            <a:r>
              <a:rPr lang="en-US" altLang="ko-KR" dirty="0"/>
              <a:t>dynamic programming, </a:t>
            </a:r>
            <a:r>
              <a:rPr lang="ko-KR" altLang="en-US" dirty="0"/>
              <a:t>그리고 강화학습의 한 종류인 </a:t>
            </a:r>
            <a:r>
              <a:rPr lang="en-US" altLang="ko-KR" dirty="0"/>
              <a:t>value-based reinforcement learning(policy based </a:t>
            </a:r>
            <a:r>
              <a:rPr lang="ko-KR" altLang="en-US" dirty="0"/>
              <a:t>제외</a:t>
            </a:r>
            <a:r>
              <a:rPr lang="en-US" altLang="ko-KR" dirty="0"/>
              <a:t>)</a:t>
            </a:r>
            <a:r>
              <a:rPr lang="ko-KR" altLang="en-US" dirty="0"/>
              <a:t>에 대해 설명을 진행하겠습니다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700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</a:t>
            </a:r>
            <a:r>
              <a:rPr lang="en-US" altLang="ko-KR" dirty="0"/>
              <a:t>Markov Decision Process</a:t>
            </a:r>
            <a:r>
              <a:rPr lang="ko-KR" altLang="en-US" dirty="0"/>
              <a:t>라고 하는 것은 어떤 에이전트의 의사결정 과정을 </a:t>
            </a:r>
            <a:r>
              <a:rPr lang="ko-KR" altLang="en-US" dirty="0" err="1"/>
              <a:t>모델하는</a:t>
            </a:r>
            <a:r>
              <a:rPr lang="ko-KR" altLang="en-US" dirty="0"/>
              <a:t> 데에 사용합니다</a:t>
            </a:r>
            <a:endParaRPr lang="en-US" altLang="ko-KR" dirty="0"/>
          </a:p>
          <a:p>
            <a:r>
              <a:rPr lang="en-US" altLang="ko-KR" dirty="0"/>
              <a:t>MDP</a:t>
            </a:r>
            <a:r>
              <a:rPr lang="ko-KR" altLang="en-US" dirty="0"/>
              <a:t>는 </a:t>
            </a:r>
            <a:r>
              <a:rPr lang="en-US" altLang="ko-KR" dirty="0"/>
              <a:t>5</a:t>
            </a:r>
            <a:r>
              <a:rPr lang="ko-KR" altLang="en-US" dirty="0"/>
              <a:t>가지 요소로 구성되어 있는데 이는 각각 </a:t>
            </a:r>
            <a:r>
              <a:rPr lang="en-US" altLang="ko-KR" dirty="0"/>
              <a:t>state, action, reward function, transition</a:t>
            </a:r>
            <a:r>
              <a:rPr lang="ko-KR" altLang="en-US" dirty="0"/>
              <a:t> </a:t>
            </a:r>
            <a:r>
              <a:rPr lang="en-US" altLang="ko-KR" dirty="0"/>
              <a:t>function, </a:t>
            </a:r>
            <a:r>
              <a:rPr lang="ko-KR" altLang="en-US" dirty="0"/>
              <a:t>그리고 </a:t>
            </a:r>
            <a:r>
              <a:rPr lang="en-US" altLang="ko-KR" dirty="0"/>
              <a:t>discount factor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다섯가지 요소를 어떤 미로 또는 던전을 탈출하려는 로봇 에이전트를 예시로 설명해보겠습니다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44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state</a:t>
            </a:r>
            <a:r>
              <a:rPr lang="ko-KR" altLang="en-US" dirty="0"/>
              <a:t>는 에이전트의 상태를 나타내며</a:t>
            </a:r>
            <a:r>
              <a:rPr lang="en-US" altLang="ko-KR" dirty="0"/>
              <a:t>, MDP</a:t>
            </a:r>
            <a:r>
              <a:rPr lang="ko-KR" altLang="en-US" dirty="0"/>
              <a:t>의 첫번째 요소인 </a:t>
            </a:r>
            <a:r>
              <a:rPr lang="en-US" altLang="ko-KR" dirty="0"/>
              <a:t>S</a:t>
            </a:r>
            <a:r>
              <a:rPr lang="ko-KR" altLang="en-US" dirty="0"/>
              <a:t>는 에이전트의 모든 </a:t>
            </a:r>
            <a:r>
              <a:rPr lang="en-US" altLang="ko-KR" dirty="0"/>
              <a:t>state</a:t>
            </a:r>
            <a:r>
              <a:rPr lang="ko-KR" altLang="en-US" dirty="0"/>
              <a:t>들의 집합을 나타냅니다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 미로를 탈출하는 로봇의 경우</a:t>
            </a:r>
            <a:r>
              <a:rPr lang="en-US" altLang="ko-KR" dirty="0"/>
              <a:t>, (</a:t>
            </a:r>
            <a:r>
              <a:rPr lang="en-US" altLang="ko-KR" dirty="0" err="1"/>
              <a:t>x,y</a:t>
            </a:r>
            <a:r>
              <a:rPr lang="en-US" altLang="ko-KR" dirty="0"/>
              <a:t>) </a:t>
            </a:r>
            <a:r>
              <a:rPr lang="ko-KR" altLang="en-US" dirty="0"/>
              <a:t>좌표로 나타낸 로봇의 위치가 </a:t>
            </a:r>
            <a:r>
              <a:rPr lang="en-US" altLang="ko-KR" dirty="0"/>
              <a:t>state</a:t>
            </a:r>
            <a:r>
              <a:rPr lang="ko-KR" altLang="en-US" dirty="0"/>
              <a:t>가 됩니다</a:t>
            </a:r>
            <a:r>
              <a:rPr lang="en-US" altLang="ko-KR" dirty="0"/>
              <a:t>. </a:t>
            </a:r>
            <a:r>
              <a:rPr lang="ko-KR" altLang="en-US" dirty="0"/>
              <a:t>표기법으로는 </a:t>
            </a:r>
            <a:r>
              <a:rPr lang="en-US" altLang="ko-KR" dirty="0"/>
              <a:t>s_0</a:t>
            </a:r>
            <a:r>
              <a:rPr lang="ko-KR" altLang="en-US" dirty="0"/>
              <a:t>는 시작하는 상태</a:t>
            </a:r>
            <a:r>
              <a:rPr lang="en-US" altLang="ko-KR" dirty="0"/>
              <a:t>, s</a:t>
            </a:r>
            <a:r>
              <a:rPr lang="ko-KR" altLang="en-US" dirty="0"/>
              <a:t>는 현재 상태</a:t>
            </a:r>
            <a:r>
              <a:rPr lang="en-US" altLang="ko-KR" dirty="0"/>
              <a:t>, s’</a:t>
            </a:r>
            <a:r>
              <a:rPr lang="ko-KR" altLang="en-US" dirty="0"/>
              <a:t>는 다음 상태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 err="1"/>
              <a:t>s_t</a:t>
            </a:r>
            <a:r>
              <a:rPr lang="ko-KR" altLang="en-US" dirty="0"/>
              <a:t>는 </a:t>
            </a:r>
            <a:r>
              <a:rPr lang="en-US" altLang="ko-KR" dirty="0"/>
              <a:t>t</a:t>
            </a:r>
            <a:r>
              <a:rPr lang="ko-KR" altLang="en-US" dirty="0"/>
              <a:t>라는 시간에서의 상태를 나타냅니다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984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</a:t>
            </a:r>
            <a:r>
              <a:rPr lang="en-US" altLang="ko-KR" dirty="0"/>
              <a:t>, action</a:t>
            </a:r>
            <a:r>
              <a:rPr lang="ko-KR" altLang="en-US" dirty="0"/>
              <a:t>은 에이전트가 취할 수 있는 행동이며 </a:t>
            </a:r>
            <a:r>
              <a:rPr lang="en-US" altLang="ko-KR" dirty="0"/>
              <a:t>A</a:t>
            </a:r>
            <a:r>
              <a:rPr lang="ko-KR" altLang="en-US" dirty="0"/>
              <a:t>는 에이전트의 모든 </a:t>
            </a:r>
            <a:r>
              <a:rPr lang="en-US" altLang="ko-KR" dirty="0"/>
              <a:t>action</a:t>
            </a:r>
            <a:r>
              <a:rPr lang="ko-KR" altLang="en-US" dirty="0"/>
              <a:t>의 집합입니다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 로봇 에이전트의 경우 상하좌우 </a:t>
            </a:r>
            <a:r>
              <a:rPr lang="en-US" altLang="ko-KR" dirty="0"/>
              <a:t>4</a:t>
            </a:r>
            <a:r>
              <a:rPr lang="ko-KR" altLang="en-US" dirty="0"/>
              <a:t>개의 방향으로 </a:t>
            </a:r>
            <a:r>
              <a:rPr lang="en-US" altLang="ko-KR" dirty="0"/>
              <a:t>1</a:t>
            </a:r>
            <a:r>
              <a:rPr lang="ko-KR" altLang="en-US" dirty="0"/>
              <a:t>칸 이동하는 행동이 있다고 볼 수 있겠습니다</a:t>
            </a:r>
            <a:r>
              <a:rPr lang="en-US" altLang="ko-KR" dirty="0"/>
              <a:t>. </a:t>
            </a:r>
            <a:r>
              <a:rPr lang="ko-KR" altLang="en-US" dirty="0"/>
              <a:t>에이전트는 본인의 </a:t>
            </a:r>
            <a:r>
              <a:rPr lang="en-US" altLang="ko-KR" dirty="0" err="1"/>
              <a:t>actio</a:t>
            </a:r>
            <a:r>
              <a:rPr lang="ko-KR" altLang="en-US" dirty="0"/>
              <a:t>을 통해 현재상태 </a:t>
            </a:r>
            <a:r>
              <a:rPr lang="en-US" altLang="ko-KR" dirty="0"/>
              <a:t>s</a:t>
            </a:r>
            <a:r>
              <a:rPr lang="ko-KR" altLang="en-US" dirty="0"/>
              <a:t>를 그 다음 상태 </a:t>
            </a:r>
            <a:r>
              <a:rPr lang="en-US" altLang="ko-KR" dirty="0"/>
              <a:t>s’</a:t>
            </a:r>
            <a:r>
              <a:rPr lang="ko-KR" altLang="en-US" dirty="0"/>
              <a:t>로 바꾸게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앞서 말한 </a:t>
            </a:r>
            <a:r>
              <a:rPr lang="en-US" altLang="ko-KR" dirty="0"/>
              <a:t>state</a:t>
            </a:r>
            <a:r>
              <a:rPr lang="ko-KR" altLang="en-US" dirty="0"/>
              <a:t>와 이 </a:t>
            </a:r>
            <a:r>
              <a:rPr lang="en-US" altLang="ko-KR" dirty="0"/>
              <a:t>action</a:t>
            </a:r>
            <a:r>
              <a:rPr lang="ko-KR" altLang="en-US" dirty="0"/>
              <a:t>은 </a:t>
            </a:r>
            <a:r>
              <a:rPr lang="en-US" altLang="ko-KR" dirty="0"/>
              <a:t>s=(1,1), a=</a:t>
            </a:r>
            <a:r>
              <a:rPr lang="en-US" altLang="ko-KR" dirty="0" err="1"/>
              <a:t>moveup</a:t>
            </a:r>
            <a:r>
              <a:rPr lang="ko-KR" altLang="en-US" dirty="0"/>
              <a:t>처럼 </a:t>
            </a:r>
            <a:r>
              <a:rPr lang="en-US" altLang="ko-KR" dirty="0"/>
              <a:t>discrete </a:t>
            </a:r>
            <a:r>
              <a:rPr lang="ko-KR" altLang="en-US" dirty="0"/>
              <a:t>할 수도 있고</a:t>
            </a:r>
            <a:r>
              <a:rPr lang="en-US" altLang="ko-KR" dirty="0"/>
              <a:t>, </a:t>
            </a:r>
            <a:r>
              <a:rPr lang="ko-KR" altLang="en-US" dirty="0"/>
              <a:t>연속적인 </a:t>
            </a:r>
            <a:r>
              <a:rPr lang="ko-KR" altLang="en-US" dirty="0" err="1"/>
              <a:t>실수값을</a:t>
            </a:r>
            <a:r>
              <a:rPr lang="ko-KR" altLang="en-US" dirty="0"/>
              <a:t> 가질 수도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245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en-US" altLang="ko-KR" dirty="0"/>
              <a:t>T</a:t>
            </a:r>
            <a:r>
              <a:rPr lang="ko-KR" altLang="en-US" dirty="0"/>
              <a:t>는 현재 상태</a:t>
            </a:r>
            <a:r>
              <a:rPr lang="en-US" altLang="ko-KR" dirty="0"/>
              <a:t>(s)</a:t>
            </a:r>
            <a:r>
              <a:rPr lang="ko-KR" altLang="en-US" dirty="0"/>
              <a:t>와 선택한 행동</a:t>
            </a:r>
            <a:r>
              <a:rPr lang="en-US" altLang="ko-KR" dirty="0"/>
              <a:t>(a)</a:t>
            </a:r>
            <a:r>
              <a:rPr lang="ko-KR" altLang="en-US" dirty="0"/>
              <a:t>이 주어졌을 때 다음 상태</a:t>
            </a:r>
            <a:r>
              <a:rPr lang="en-US" altLang="ko-KR" dirty="0"/>
              <a:t>(s’)</a:t>
            </a:r>
            <a:r>
              <a:rPr lang="ko-KR" altLang="en-US" dirty="0"/>
              <a:t>를 결정하는 함수입니다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같은 </a:t>
            </a:r>
            <a:r>
              <a:rPr lang="en-US" altLang="ko-KR" dirty="0" err="1"/>
              <a:t>s,a</a:t>
            </a:r>
            <a:r>
              <a:rPr lang="ko-KR" altLang="en-US" dirty="0"/>
              <a:t>가 주어졌을 때 항상 같은 </a:t>
            </a:r>
            <a:r>
              <a:rPr lang="en-US" altLang="ko-KR" dirty="0"/>
              <a:t>s</a:t>
            </a:r>
            <a:r>
              <a:rPr lang="ko-KR" altLang="en-US" dirty="0"/>
              <a:t>＇이 나오는 </a:t>
            </a:r>
            <a:r>
              <a:rPr lang="en-US" altLang="ko-KR" dirty="0"/>
              <a:t>transition </a:t>
            </a:r>
            <a:r>
              <a:rPr lang="en-US" altLang="ko-KR" dirty="0" err="1"/>
              <a:t>functio</a:t>
            </a:r>
            <a:r>
              <a:rPr lang="ko-KR" altLang="en-US" dirty="0"/>
              <a:t>은 </a:t>
            </a:r>
            <a:r>
              <a:rPr lang="en-US" altLang="ko-KR" dirty="0"/>
              <a:t>deterministic</a:t>
            </a:r>
            <a:r>
              <a:rPr lang="ko-KR" altLang="en-US" dirty="0"/>
              <a:t>하다고 표현하고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같은 </a:t>
            </a:r>
            <a:r>
              <a:rPr lang="en-US" altLang="ko-KR" dirty="0" err="1"/>
              <a:t>s,a</a:t>
            </a:r>
            <a:r>
              <a:rPr lang="ko-KR" altLang="en-US" dirty="0"/>
              <a:t>가 주어져도 </a:t>
            </a:r>
            <a:r>
              <a:rPr lang="en-US" altLang="ko-KR" dirty="0"/>
              <a:t>s’</a:t>
            </a:r>
            <a:r>
              <a:rPr lang="ko-KR" altLang="en-US" dirty="0"/>
              <a:t>에 대한 어떤 확률분포를 통해 결정되는 경우는 </a:t>
            </a:r>
            <a:r>
              <a:rPr lang="en-US" altLang="ko-KR" dirty="0"/>
              <a:t>stochastic</a:t>
            </a:r>
            <a:r>
              <a:rPr lang="ko-KR" altLang="en-US" dirty="0"/>
              <a:t>하다고 표현합니다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예를들어</a:t>
            </a:r>
            <a:r>
              <a:rPr lang="ko-KR" altLang="en-US" dirty="0"/>
              <a:t> 그림과 같이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22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en-US" altLang="ko-KR" dirty="0"/>
              <a:t>T</a:t>
            </a:r>
            <a:r>
              <a:rPr lang="ko-KR" altLang="en-US" dirty="0"/>
              <a:t>는 현재 상태 </a:t>
            </a:r>
            <a:r>
              <a:rPr lang="en-US" altLang="ko-KR" dirty="0"/>
              <a:t>(s)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선택한 행동</a:t>
            </a:r>
            <a:r>
              <a:rPr lang="en-US" altLang="ko-KR" dirty="0"/>
              <a:t>(a)</a:t>
            </a:r>
            <a:r>
              <a:rPr lang="ko-KR" altLang="en-US" dirty="0"/>
              <a:t>이 주어졌을 때 다음 </a:t>
            </a:r>
            <a:r>
              <a:rPr lang="en-US" altLang="ko-KR" dirty="0"/>
              <a:t>(s</a:t>
            </a:r>
            <a:r>
              <a:rPr lang="ko-KR" altLang="en-US" dirty="0"/>
              <a:t>‘</a:t>
            </a:r>
            <a:r>
              <a:rPr lang="en-US" altLang="ko-KR" dirty="0"/>
              <a:t>)</a:t>
            </a:r>
            <a:r>
              <a:rPr lang="ko-KR" altLang="en-US" dirty="0"/>
              <a:t>를 결정하는 함수입니다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같은 </a:t>
            </a:r>
            <a:r>
              <a:rPr lang="en-US" altLang="ko-KR" dirty="0" err="1"/>
              <a:t>s,a</a:t>
            </a:r>
            <a:r>
              <a:rPr lang="ko-KR" altLang="en-US" dirty="0"/>
              <a:t>가 주어졌을 때 항상 같은 </a:t>
            </a:r>
            <a:r>
              <a:rPr lang="en-US" altLang="ko-KR" dirty="0"/>
              <a:t>s’</a:t>
            </a:r>
            <a:r>
              <a:rPr lang="ko-KR" altLang="en-US" dirty="0"/>
              <a:t>이 나오는 </a:t>
            </a:r>
            <a:r>
              <a:rPr lang="en-US" altLang="ko-KR" dirty="0"/>
              <a:t>transition function</a:t>
            </a:r>
            <a:r>
              <a:rPr lang="ko-KR" altLang="en-US" dirty="0"/>
              <a:t>은 </a:t>
            </a:r>
            <a:r>
              <a:rPr lang="en-US" altLang="ko-KR" dirty="0"/>
              <a:t>deterministic</a:t>
            </a:r>
            <a:r>
              <a:rPr lang="ko-KR" altLang="en-US" dirty="0"/>
              <a:t>하다고 표현하고 같은 </a:t>
            </a:r>
            <a:r>
              <a:rPr lang="en-US" altLang="ko-KR" dirty="0" err="1"/>
              <a:t>s,a</a:t>
            </a:r>
            <a:r>
              <a:rPr lang="ko-KR" altLang="en-US" dirty="0"/>
              <a:t>가 주어져도 </a:t>
            </a:r>
            <a:r>
              <a:rPr lang="en-US" altLang="ko-KR" dirty="0"/>
              <a:t>s’</a:t>
            </a:r>
            <a:r>
              <a:rPr lang="ko-KR" altLang="en-US" dirty="0"/>
              <a:t>에 대한 어떤 확률 분포를 통해 결정되는 경우는 </a:t>
            </a:r>
            <a:r>
              <a:rPr lang="en-US" altLang="ko-KR" dirty="0"/>
              <a:t>stochastic</a:t>
            </a:r>
            <a:r>
              <a:rPr lang="ko-KR" altLang="en-US" dirty="0"/>
              <a:t>하다고 표현합니다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예를들어</a:t>
            </a:r>
            <a:r>
              <a:rPr lang="en-US" altLang="ko-KR" dirty="0"/>
              <a:t>, </a:t>
            </a:r>
            <a:r>
              <a:rPr lang="ko-KR" altLang="en-US" dirty="0"/>
              <a:t>그림과 같이 로봇 에이전트가 </a:t>
            </a:r>
            <a:r>
              <a:rPr lang="en-US" altLang="ko-KR" dirty="0"/>
              <a:t>(1,0) </a:t>
            </a:r>
            <a:r>
              <a:rPr lang="ko-KR" altLang="en-US" dirty="0"/>
              <a:t>위치에서 위로 한 칸 움직였다고 할 때</a:t>
            </a:r>
            <a:r>
              <a:rPr lang="en-US" altLang="ko-KR" dirty="0"/>
              <a:t>, 80% </a:t>
            </a:r>
            <a:r>
              <a:rPr lang="ko-KR" altLang="en-US" dirty="0"/>
              <a:t>확률로 </a:t>
            </a:r>
            <a:r>
              <a:rPr lang="en-US" altLang="ko-KR" dirty="0"/>
              <a:t>(1,1)</a:t>
            </a:r>
            <a:r>
              <a:rPr lang="ko-KR" altLang="en-US" dirty="0"/>
              <a:t>로 이동하고</a:t>
            </a:r>
            <a:r>
              <a:rPr lang="en-US" altLang="ko-KR" dirty="0"/>
              <a:t>, 10%</a:t>
            </a:r>
            <a:r>
              <a:rPr lang="ko-KR" altLang="en-US" dirty="0"/>
              <a:t>의 확률로 </a:t>
            </a:r>
            <a:r>
              <a:rPr lang="en-US" altLang="ko-KR" dirty="0"/>
              <a:t>(0,0)</a:t>
            </a:r>
            <a:r>
              <a:rPr lang="ko-KR" altLang="en-US" dirty="0"/>
              <a:t>이나 </a:t>
            </a:r>
            <a:r>
              <a:rPr lang="en-US" altLang="ko-KR" dirty="0"/>
              <a:t>(2,0)</a:t>
            </a:r>
            <a:r>
              <a:rPr lang="ko-KR" altLang="en-US" dirty="0"/>
              <a:t>으로 이동하는 경우는 </a:t>
            </a:r>
            <a:r>
              <a:rPr lang="en-US" altLang="ko-KR" dirty="0"/>
              <a:t>stochastic transition</a:t>
            </a:r>
            <a:r>
              <a:rPr lang="ko-KR" altLang="en-US" dirty="0"/>
              <a:t>이라고 표현합니다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921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</a:t>
            </a:r>
            <a:r>
              <a:rPr lang="en-US" altLang="ko-KR" dirty="0"/>
              <a:t>discount factor</a:t>
            </a:r>
            <a:r>
              <a:rPr lang="ko-KR" altLang="en-US" dirty="0"/>
              <a:t>라고 하는 것은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사이의 값으로</a:t>
            </a:r>
            <a:r>
              <a:rPr lang="en-US" altLang="ko-KR" dirty="0"/>
              <a:t>, </a:t>
            </a:r>
            <a:r>
              <a:rPr lang="ko-KR" altLang="en-US" dirty="0"/>
              <a:t>에이전트가 미래에 얻어지는 보상을 얼마나 </a:t>
            </a:r>
            <a:r>
              <a:rPr lang="ko-KR" altLang="en-US" dirty="0" err="1"/>
              <a:t>가치있다고</a:t>
            </a:r>
            <a:r>
              <a:rPr lang="ko-KR" altLang="en-US" dirty="0"/>
              <a:t> 판단하는지를 정합니다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예를들어</a:t>
            </a:r>
            <a:r>
              <a:rPr lang="ko-KR" altLang="en-US" dirty="0"/>
              <a:t> 미로에서 에이전트가 보석을 얻었을 때 보상이 </a:t>
            </a:r>
            <a:r>
              <a:rPr lang="en-US" altLang="ko-KR" dirty="0"/>
              <a:t>1</a:t>
            </a:r>
            <a:r>
              <a:rPr lang="ko-KR" altLang="en-US" dirty="0"/>
              <a:t>이라고 하면</a:t>
            </a:r>
            <a:r>
              <a:rPr lang="en-US" altLang="ko-KR" dirty="0"/>
              <a:t>, </a:t>
            </a:r>
            <a:r>
              <a:rPr lang="ko-KR" altLang="en-US" dirty="0"/>
              <a:t>에이전트가 한 스텝 미래에 보석을 얻는 것을 </a:t>
            </a:r>
            <a:r>
              <a:rPr lang="en-US" altLang="ko-KR" dirty="0"/>
              <a:t>1</a:t>
            </a:r>
            <a:r>
              <a:rPr lang="ko-KR" altLang="en-US" dirty="0"/>
              <a:t>보다 작은 </a:t>
            </a:r>
            <a:r>
              <a:rPr lang="en-US" altLang="ko-KR" dirty="0"/>
              <a:t>gamma1 </a:t>
            </a:r>
            <a:r>
              <a:rPr lang="ko-KR" altLang="en-US" dirty="0"/>
              <a:t>보상이라고 판단하는 것입니다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조금 더 쉬운 예로 어린아이가 눈 앞의 과자를 먹는 것과 한시간 뒤에 먹는 것의 가치를 어떻게 생각할지 생각해봅시다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에 가깝게 되면 미래의 보상</a:t>
            </a:r>
            <a:r>
              <a:rPr lang="en-US" altLang="ko-KR" dirty="0"/>
              <a:t>(</a:t>
            </a:r>
            <a:r>
              <a:rPr lang="ko-KR" altLang="en-US" dirty="0"/>
              <a:t>한시간 뒤에 먹는 것</a:t>
            </a:r>
            <a:r>
              <a:rPr lang="en-US" altLang="ko-KR" dirty="0"/>
              <a:t>)</a:t>
            </a:r>
            <a:r>
              <a:rPr lang="ko-KR" altLang="en-US" dirty="0"/>
              <a:t>의 가치는 </a:t>
            </a:r>
            <a:r>
              <a:rPr lang="en-US" altLang="ko-KR" dirty="0"/>
              <a:t>0</a:t>
            </a:r>
            <a:r>
              <a:rPr lang="ko-KR" altLang="en-US" dirty="0"/>
              <a:t>에 가깝게 되기 때문에 과자를 바로 먹는 것을 선호하겠지요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반대로 </a:t>
            </a:r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에 가까우면 미래의 보상이 현재의 보상</a:t>
            </a:r>
            <a:r>
              <a:rPr lang="en-US" altLang="ko-KR" dirty="0"/>
              <a:t>(</a:t>
            </a:r>
            <a:r>
              <a:rPr lang="ko-KR" altLang="en-US" dirty="0"/>
              <a:t>지금 먹는 것</a:t>
            </a:r>
            <a:r>
              <a:rPr lang="en-US" altLang="ko-KR" dirty="0"/>
              <a:t>)</a:t>
            </a:r>
            <a:r>
              <a:rPr lang="ko-KR" altLang="en-US" dirty="0"/>
              <a:t>과 거의 비슷하기 때문에</a:t>
            </a:r>
            <a:r>
              <a:rPr lang="en-US" altLang="ko-KR" dirty="0"/>
              <a:t>, </a:t>
            </a:r>
            <a:r>
              <a:rPr lang="ko-KR" altLang="en-US" dirty="0"/>
              <a:t>언제든지 먹기만 한다면 먹는 시간은 크게 상관하지 않겠지요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에이전트가 미래의 보상을 현재의 보상에 비해 얼마나 </a:t>
            </a:r>
            <a:r>
              <a:rPr lang="ko-KR" altLang="en-US" dirty="0" err="1"/>
              <a:t>가치있게</a:t>
            </a:r>
            <a:r>
              <a:rPr lang="ko-KR" altLang="en-US" dirty="0"/>
              <a:t> 생각하는지를 결정하는게 </a:t>
            </a:r>
            <a:r>
              <a:rPr lang="en-US" altLang="ko-KR" dirty="0"/>
              <a:t>discounter factor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555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</a:t>
            </a:r>
            <a:r>
              <a:rPr lang="en-US" altLang="ko-KR" dirty="0"/>
              <a:t> </a:t>
            </a:r>
            <a:r>
              <a:rPr lang="ko-KR" altLang="en-US" dirty="0"/>
              <a:t>조금 전에 봤던 로봇 에이전트의 경우에</a:t>
            </a:r>
            <a:r>
              <a:rPr lang="en-US" altLang="ko-KR" dirty="0"/>
              <a:t>, </a:t>
            </a:r>
            <a:r>
              <a:rPr lang="ko-KR" altLang="en-US" dirty="0"/>
              <a:t>미래의 상태가 과거의 모든 상태의 영향을 받을까요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과거에 지나온 모든 위치를 알아야 로봇의 위치를 결정할 수 있을까요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681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그렇지 않다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한단계 미래의 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(s’)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결정하는 데에는 오직 현재의 정보만 있으면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과거에 지나온 모든 상태와 행동들을 알 필요가 없고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현재의 상태 하나로 대변될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memoryless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하다고 표현하며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MDP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이런 성질을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memoryless Property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078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의사결정 과정에서 우리가 찾고 싶은 건 최적의 의사결정입니다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상태마다 이 행동을 선택해야 제일 좋다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알려주는 것을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가치를 잴 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것을 사용합니다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로봇 에이전트의 경우에 정책은 이렇게 각 위치에서 어떤 방향으로 이동해야 하는지 알려줍니다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47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얼마나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판단할 때 쓰이는 기준으로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여러 가지 형태가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에이전트가 현재부터 얻은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총 합이 될 수도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쓴 수식은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discounted 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하는데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각각의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언제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얻었냐에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 factor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곱해서 더할 수도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무한대의 시간까지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로봇 에이전트가 시간제한 없이 탈출할 때까지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더하면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infinite horizon,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정해진 시간 제한을 두면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finite horizon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051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정의된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MDP,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가지고 우리가 찾고 싶은 것은 최적의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최대화 시키는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최대의 가치를 갖는 의사결정 방법을 찾는다고 볼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305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정의할 때 어떤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가치를 평가하는 지표로 쓰인다고 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가치는 어떻게 판단할 수 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상태의 가치를 나타내기 위해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Function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것을 사용합니다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V,Q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종류가 있는데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value function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가치를 표현합니다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조금 더 자세히 얘기하면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V(s)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상태로부터 주어진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따라 행동했을 때 얻어지는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기댓값입니다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좀 더 쉽게 표현하면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V(s)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현재 상태에서 시작해서 얼마나 많은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얻게 될지 예상한 값입니다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20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비슷한 개념으로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 function,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value function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있는데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어떤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그 상태에서 선택한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가치를 알려줍니다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상태에서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행동을 취한 뒤에 주어진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따라 행동했을 때 얻어지는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기댓값입니다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다시말해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Q(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s,a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현재 상태에서 선택한 행동을 취하면 결과적으로 얼마나 많은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얻게될지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예상한 값입니다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표현되는지 알아봤고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MDP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풀어서 최적의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얻는 방법에 대해 알아보겠습니다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317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키워드를 정리해볼까요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382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44F0EE-84CF-4E30-AA04-565FE92A763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9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67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4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26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4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3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34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74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1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8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03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812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67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1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59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342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515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DB4E605-F7C1-40E6-B655-C38DDCA0707E}" type="datetimeFigureOut">
              <a:rPr lang="ko-KR" altLang="en-US" smtClean="0"/>
              <a:t>2018-07-30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5E1DD1F-5477-4335-9F9C-BD67F756C7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87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62F6C29-4341-4B29-B871-9566D9D34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2"/>
            <a:ext cx="8825658" cy="2677648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FFFFFF"/>
                </a:solidFill>
              </a:rPr>
              <a:t>Reinforcement Learning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2A9C05-3FB2-4BF4-AD31-8AAD306AB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강화학습</a:t>
            </a:r>
            <a:r>
              <a:rPr lang="en-US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ko-KR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739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2977C-FAD6-4E10-8284-28BC51FC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28543-7601-481A-B24B-6AFE667C3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Background</a:t>
            </a:r>
          </a:p>
          <a:p>
            <a:pPr lvl="1"/>
            <a:r>
              <a:rPr lang="en-US" altLang="ko-KR" dirty="0"/>
              <a:t>Markov Decision Process</a:t>
            </a:r>
          </a:p>
          <a:p>
            <a:pPr lvl="1"/>
            <a:r>
              <a:rPr lang="en-US" altLang="ko-KR" dirty="0"/>
              <a:t>Markov Property</a:t>
            </a:r>
          </a:p>
          <a:p>
            <a:pPr lvl="1"/>
            <a:r>
              <a:rPr lang="en-US" altLang="ko-KR" dirty="0"/>
              <a:t>Policy and Return</a:t>
            </a:r>
          </a:p>
          <a:p>
            <a:pPr lvl="1"/>
            <a:r>
              <a:rPr lang="en-US" altLang="ko-KR" dirty="0"/>
              <a:t>Value Functions (V,Q)</a:t>
            </a:r>
          </a:p>
          <a:p>
            <a:r>
              <a:rPr lang="en-US" altLang="ko-KR" dirty="0"/>
              <a:t>Planning</a:t>
            </a:r>
          </a:p>
          <a:p>
            <a:pPr lvl="1"/>
            <a:r>
              <a:rPr lang="en-US" altLang="ko-KR" dirty="0"/>
              <a:t>Dynamic Programming</a:t>
            </a:r>
          </a:p>
          <a:p>
            <a:r>
              <a:rPr lang="en-US" altLang="ko-KR" dirty="0"/>
              <a:t>Reinforcement Learning (Value-based)</a:t>
            </a:r>
          </a:p>
          <a:p>
            <a:pPr lvl="1"/>
            <a:r>
              <a:rPr lang="en-US" altLang="ko-KR" dirty="0"/>
              <a:t>Monte-Carlo Method</a:t>
            </a:r>
          </a:p>
          <a:p>
            <a:pPr lvl="1"/>
            <a:r>
              <a:rPr lang="en-US" altLang="ko-KR" dirty="0"/>
              <a:t>TD Method(</a:t>
            </a:r>
            <a:r>
              <a:rPr lang="en-US" altLang="ko-KR" dirty="0" err="1"/>
              <a:t>Sarse</a:t>
            </a:r>
            <a:r>
              <a:rPr lang="en-US" altLang="ko-KR" dirty="0"/>
              <a:t>, Q-learning)</a:t>
            </a:r>
          </a:p>
          <a:p>
            <a:pPr lvl="1"/>
            <a:r>
              <a:rPr lang="en-US" altLang="ko-KR" dirty="0"/>
              <a:t>TD(λ) Method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8D4C9F-59D7-447B-8378-70FEED66E0C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7160114" y="2768725"/>
            <a:ext cx="3756241" cy="31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0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7">
            <a:extLst>
              <a:ext uri="{FF2B5EF4-FFF2-40B4-BE49-F238E27FC236}">
                <a16:creationId xmlns:a16="http://schemas.microsoft.com/office/drawing/2014/main" id="{15DECA11-8F23-4BFB-819D-1C5A97840D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DBF623-F256-43E8-93AC-B5467A91FD2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 useBgFill="1">
          <p:nvSpPr>
            <p:cNvPr id="21" name="Freeform 5">
              <a:extLst>
                <a:ext uri="{FF2B5EF4-FFF2-40B4-BE49-F238E27FC236}">
                  <a16:creationId xmlns:a16="http://schemas.microsoft.com/office/drawing/2014/main" id="{B6AB7373-B022-4BA1-B8E7-D2C342475F5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F5272F5-8C21-4BBA-ACD2-7EBF9B12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2851585" cy="4596794"/>
          </a:xfrm>
        </p:spPr>
        <p:txBody>
          <a:bodyPr anchor="ctr">
            <a:normAutofit/>
          </a:bodyPr>
          <a:lstStyle/>
          <a:p>
            <a:r>
              <a:rPr lang="en-US" altLang="ko-KR" sz="3200">
                <a:solidFill>
                  <a:srgbClr val="EBEBEB"/>
                </a:solidFill>
              </a:rPr>
              <a:t>Markov Decision Proces</a:t>
            </a:r>
            <a:endParaRPr lang="ko-KR" altLang="en-US" sz="3200">
              <a:solidFill>
                <a:srgbClr val="EBEBEB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FF7C8-A0F2-492C-AD80-E74CED0D1B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838669">
            <a:off x="2884218" y="1683278"/>
            <a:ext cx="2934265" cy="437897"/>
          </a:xfrm>
          <a:custGeom>
            <a:avLst/>
            <a:gdLst>
              <a:gd name="connsiteX0" fmla="*/ 2934265 w 2934265"/>
              <a:gd name="connsiteY0" fmla="*/ 0 h 437897"/>
              <a:gd name="connsiteX1" fmla="*/ 2888069 w 2934265"/>
              <a:gd name="connsiteY1" fmla="*/ 437897 h 437897"/>
              <a:gd name="connsiteX2" fmla="*/ 2791337 w 2934265"/>
              <a:gd name="connsiteY2" fmla="*/ 437084 h 437897"/>
              <a:gd name="connsiteX3" fmla="*/ 25070 w 2934265"/>
              <a:gd name="connsiteY3" fmla="*/ 208388 h 437897"/>
              <a:gd name="connsiteX4" fmla="*/ 0 w 2934265"/>
              <a:gd name="connsiteY4" fmla="*/ 141220 h 437897"/>
              <a:gd name="connsiteX5" fmla="*/ 157202 w 2934265"/>
              <a:gd name="connsiteY5" fmla="*/ 150137 h 437897"/>
              <a:gd name="connsiteX6" fmla="*/ 237720 w 2934265"/>
              <a:gd name="connsiteY6" fmla="*/ 153470 h 437897"/>
              <a:gd name="connsiteX7" fmla="*/ 320008 w 2934265"/>
              <a:gd name="connsiteY7" fmla="*/ 156970 h 437897"/>
              <a:gd name="connsiteX8" fmla="*/ 403475 w 2934265"/>
              <a:gd name="connsiteY8" fmla="*/ 160304 h 437897"/>
              <a:gd name="connsiteX9" fmla="*/ 487532 w 2934265"/>
              <a:gd name="connsiteY9" fmla="*/ 162387 h 437897"/>
              <a:gd name="connsiteX10" fmla="*/ 573065 w 2934265"/>
              <a:gd name="connsiteY10" fmla="*/ 164387 h 437897"/>
              <a:gd name="connsiteX11" fmla="*/ 660071 w 2934265"/>
              <a:gd name="connsiteY11" fmla="*/ 166470 h 437897"/>
              <a:gd name="connsiteX12" fmla="*/ 748258 w 2934265"/>
              <a:gd name="connsiteY12" fmla="*/ 167887 h 437897"/>
              <a:gd name="connsiteX13" fmla="*/ 837329 w 2934265"/>
              <a:gd name="connsiteY13" fmla="*/ 167887 h 437897"/>
              <a:gd name="connsiteX14" fmla="*/ 927580 w 2934265"/>
              <a:gd name="connsiteY14" fmla="*/ 168470 h 437897"/>
              <a:gd name="connsiteX15" fmla="*/ 1018716 w 2934265"/>
              <a:gd name="connsiteY15" fmla="*/ 167887 h 437897"/>
              <a:gd name="connsiteX16" fmla="*/ 1110736 w 2934265"/>
              <a:gd name="connsiteY16" fmla="*/ 166470 h 437897"/>
              <a:gd name="connsiteX17" fmla="*/ 1203052 w 2934265"/>
              <a:gd name="connsiteY17" fmla="*/ 165137 h 437897"/>
              <a:gd name="connsiteX18" fmla="*/ 1296547 w 2934265"/>
              <a:gd name="connsiteY18" fmla="*/ 162387 h 437897"/>
              <a:gd name="connsiteX19" fmla="*/ 1391222 w 2934265"/>
              <a:gd name="connsiteY19" fmla="*/ 159720 h 437897"/>
              <a:gd name="connsiteX20" fmla="*/ 1485308 w 2934265"/>
              <a:gd name="connsiteY20" fmla="*/ 156220 h 437897"/>
              <a:gd name="connsiteX21" fmla="*/ 1580573 w 2934265"/>
              <a:gd name="connsiteY21" fmla="*/ 151553 h 437897"/>
              <a:gd name="connsiteX22" fmla="*/ 1677017 w 2934265"/>
              <a:gd name="connsiteY22" fmla="*/ 146053 h 437897"/>
              <a:gd name="connsiteX23" fmla="*/ 1773462 w 2934265"/>
              <a:gd name="connsiteY23" fmla="*/ 140636 h 437897"/>
              <a:gd name="connsiteX24" fmla="*/ 1869907 w 2934265"/>
              <a:gd name="connsiteY24" fmla="*/ 133720 h 437897"/>
              <a:gd name="connsiteX25" fmla="*/ 1968121 w 2934265"/>
              <a:gd name="connsiteY25" fmla="*/ 125553 h 437897"/>
              <a:gd name="connsiteX26" fmla="*/ 2064566 w 2934265"/>
              <a:gd name="connsiteY26" fmla="*/ 117386 h 437897"/>
              <a:gd name="connsiteX27" fmla="*/ 2162780 w 2934265"/>
              <a:gd name="connsiteY27" fmla="*/ 107802 h 437897"/>
              <a:gd name="connsiteX28" fmla="*/ 2261880 w 2934265"/>
              <a:gd name="connsiteY28" fmla="*/ 97552 h 437897"/>
              <a:gd name="connsiteX29" fmla="*/ 2359209 w 2934265"/>
              <a:gd name="connsiteY29" fmla="*/ 86635 h 437897"/>
              <a:gd name="connsiteX30" fmla="*/ 2457718 w 2934265"/>
              <a:gd name="connsiteY30" fmla="*/ 73802 h 437897"/>
              <a:gd name="connsiteX31" fmla="*/ 2556228 w 2934265"/>
              <a:gd name="connsiteY31" fmla="*/ 60135 h 437897"/>
              <a:gd name="connsiteX32" fmla="*/ 2654737 w 2934265"/>
              <a:gd name="connsiteY32" fmla="*/ 46552 h 437897"/>
              <a:gd name="connsiteX33" fmla="*/ 2752951 w 2934265"/>
              <a:gd name="connsiteY33" fmla="*/ 30718 h 437897"/>
              <a:gd name="connsiteX34" fmla="*/ 2851166 w 2934265"/>
              <a:gd name="connsiteY34" fmla="*/ 14384 h 437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934265" h="437897">
                <a:moveTo>
                  <a:pt x="2934265" y="0"/>
                </a:moveTo>
                <a:lnTo>
                  <a:pt x="2888069" y="437897"/>
                </a:lnTo>
                <a:lnTo>
                  <a:pt x="2791337" y="437084"/>
                </a:lnTo>
                <a:cubicBezTo>
                  <a:pt x="2010492" y="424446"/>
                  <a:pt x="481578" y="316124"/>
                  <a:pt x="25070" y="208388"/>
                </a:cubicBezTo>
                <a:cubicBezTo>
                  <a:pt x="16811" y="185970"/>
                  <a:pt x="8258" y="163637"/>
                  <a:pt x="0" y="141220"/>
                </a:cubicBezTo>
                <a:lnTo>
                  <a:pt x="157202" y="150137"/>
                </a:lnTo>
                <a:lnTo>
                  <a:pt x="237720" y="153470"/>
                </a:lnTo>
                <a:lnTo>
                  <a:pt x="320008" y="156970"/>
                </a:lnTo>
                <a:lnTo>
                  <a:pt x="403475" y="160304"/>
                </a:lnTo>
                <a:lnTo>
                  <a:pt x="487532" y="162387"/>
                </a:lnTo>
                <a:lnTo>
                  <a:pt x="573065" y="164387"/>
                </a:lnTo>
                <a:lnTo>
                  <a:pt x="660071" y="166470"/>
                </a:lnTo>
                <a:lnTo>
                  <a:pt x="748258" y="167887"/>
                </a:lnTo>
                <a:lnTo>
                  <a:pt x="837329" y="167887"/>
                </a:lnTo>
                <a:lnTo>
                  <a:pt x="927580" y="168470"/>
                </a:lnTo>
                <a:lnTo>
                  <a:pt x="1018716" y="167887"/>
                </a:lnTo>
                <a:lnTo>
                  <a:pt x="1110736" y="166470"/>
                </a:lnTo>
                <a:lnTo>
                  <a:pt x="1203052" y="165137"/>
                </a:lnTo>
                <a:lnTo>
                  <a:pt x="1296547" y="162387"/>
                </a:lnTo>
                <a:lnTo>
                  <a:pt x="1391222" y="159720"/>
                </a:lnTo>
                <a:lnTo>
                  <a:pt x="1485308" y="156220"/>
                </a:lnTo>
                <a:lnTo>
                  <a:pt x="1580573" y="151553"/>
                </a:lnTo>
                <a:lnTo>
                  <a:pt x="1677017" y="146053"/>
                </a:lnTo>
                <a:lnTo>
                  <a:pt x="1773462" y="140636"/>
                </a:lnTo>
                <a:lnTo>
                  <a:pt x="1869907" y="133720"/>
                </a:lnTo>
                <a:lnTo>
                  <a:pt x="1968121" y="125553"/>
                </a:lnTo>
                <a:lnTo>
                  <a:pt x="2064566" y="117386"/>
                </a:lnTo>
                <a:lnTo>
                  <a:pt x="2162780" y="107802"/>
                </a:lnTo>
                <a:lnTo>
                  <a:pt x="2261880" y="97552"/>
                </a:lnTo>
                <a:lnTo>
                  <a:pt x="2359209" y="86635"/>
                </a:lnTo>
                <a:lnTo>
                  <a:pt x="2457718" y="73802"/>
                </a:lnTo>
                <a:lnTo>
                  <a:pt x="2556228" y="60135"/>
                </a:lnTo>
                <a:lnTo>
                  <a:pt x="2654737" y="46552"/>
                </a:lnTo>
                <a:lnTo>
                  <a:pt x="2752951" y="30718"/>
                </a:lnTo>
                <a:lnTo>
                  <a:pt x="2851166" y="1438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 useBgFill="1">
        <p:nvSpPr>
          <p:cNvPr id="22" name="Freeform: Shape 13">
            <a:extLst>
              <a:ext uri="{FF2B5EF4-FFF2-40B4-BE49-F238E27FC236}">
                <a16:creationId xmlns:a16="http://schemas.microsoft.com/office/drawing/2014/main" id="{F8FA804E-1D25-47B6-B418-617D700B0F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973494" y="-361419"/>
            <a:ext cx="5982968" cy="7580834"/>
          </a:xfrm>
          <a:custGeom>
            <a:avLst/>
            <a:gdLst>
              <a:gd name="connsiteX0" fmla="*/ 5982968 w 5982968"/>
              <a:gd name="connsiteY0" fmla="*/ 1177 h 7521140"/>
              <a:gd name="connsiteX1" fmla="*/ 5982968 w 5982968"/>
              <a:gd name="connsiteY1" fmla="*/ 1344715 h 7521140"/>
              <a:gd name="connsiteX2" fmla="*/ 5982967 w 5982968"/>
              <a:gd name="connsiteY2" fmla="*/ 1344715 h 7521140"/>
              <a:gd name="connsiteX3" fmla="*/ 5982967 w 5982968"/>
              <a:gd name="connsiteY3" fmla="*/ 6152387 h 7521140"/>
              <a:gd name="connsiteX4" fmla="*/ 5982968 w 5982968"/>
              <a:gd name="connsiteY4" fmla="*/ 6152387 h 7521140"/>
              <a:gd name="connsiteX5" fmla="*/ 5982968 w 5982968"/>
              <a:gd name="connsiteY5" fmla="*/ 7521140 h 7521140"/>
              <a:gd name="connsiteX6" fmla="*/ 0 w 5982968"/>
              <a:gd name="connsiteY6" fmla="*/ 7521140 h 7521140"/>
              <a:gd name="connsiteX7" fmla="*/ 0 w 5982968"/>
              <a:gd name="connsiteY7" fmla="*/ 6152387 h 7521140"/>
              <a:gd name="connsiteX8" fmla="*/ 2 w 5982968"/>
              <a:gd name="connsiteY8" fmla="*/ 6152387 h 7521140"/>
              <a:gd name="connsiteX9" fmla="*/ 2 w 5982968"/>
              <a:gd name="connsiteY9" fmla="*/ 905354 h 7521140"/>
              <a:gd name="connsiteX10" fmla="*/ 3 w 5982968"/>
              <a:gd name="connsiteY10" fmla="*/ 905354 h 7521140"/>
              <a:gd name="connsiteX11" fmla="*/ 3 w 5982968"/>
              <a:gd name="connsiteY11" fmla="*/ 0 h 7521140"/>
              <a:gd name="connsiteX12" fmla="*/ 35302 w 5982968"/>
              <a:gd name="connsiteY12" fmla="*/ 5883 h 7521140"/>
              <a:gd name="connsiteX13" fmla="*/ 138808 w 5982968"/>
              <a:gd name="connsiteY13" fmla="*/ 23197 h 7521140"/>
              <a:gd name="connsiteX14" fmla="*/ 214194 w 5982968"/>
              <a:gd name="connsiteY14" fmla="*/ 35299 h 7521140"/>
              <a:gd name="connsiteX15" fmla="*/ 303938 w 5982968"/>
              <a:gd name="connsiteY15" fmla="*/ 48074 h 7521140"/>
              <a:gd name="connsiteX16" fmla="*/ 410435 w 5982968"/>
              <a:gd name="connsiteY16" fmla="*/ 63370 h 7521140"/>
              <a:gd name="connsiteX17" fmla="*/ 528299 w 5982968"/>
              <a:gd name="connsiteY17" fmla="*/ 79507 h 7521140"/>
              <a:gd name="connsiteX18" fmla="*/ 661121 w 5982968"/>
              <a:gd name="connsiteY18" fmla="*/ 96484 h 7521140"/>
              <a:gd name="connsiteX19" fmla="*/ 805909 w 5982968"/>
              <a:gd name="connsiteY19" fmla="*/ 114469 h 7521140"/>
              <a:gd name="connsiteX20" fmla="*/ 963260 w 5982968"/>
              <a:gd name="connsiteY20" fmla="*/ 132455 h 7521140"/>
              <a:gd name="connsiteX21" fmla="*/ 1130783 w 5982968"/>
              <a:gd name="connsiteY21" fmla="*/ 150776 h 7521140"/>
              <a:gd name="connsiteX22" fmla="*/ 1311469 w 5982968"/>
              <a:gd name="connsiteY22" fmla="*/ 167753 h 7521140"/>
              <a:gd name="connsiteX23" fmla="*/ 1500531 w 5982968"/>
              <a:gd name="connsiteY23" fmla="*/ 184058 h 7521140"/>
              <a:gd name="connsiteX24" fmla="*/ 1700362 w 5982968"/>
              <a:gd name="connsiteY24" fmla="*/ 198850 h 7521140"/>
              <a:gd name="connsiteX25" fmla="*/ 1908569 w 5982968"/>
              <a:gd name="connsiteY25" fmla="*/ 212969 h 7521140"/>
              <a:gd name="connsiteX26" fmla="*/ 2125751 w 5982968"/>
              <a:gd name="connsiteY26" fmla="*/ 226249 h 7521140"/>
              <a:gd name="connsiteX27" fmla="*/ 2237034 w 5982968"/>
              <a:gd name="connsiteY27" fmla="*/ 230955 h 7521140"/>
              <a:gd name="connsiteX28" fmla="*/ 2350710 w 5982968"/>
              <a:gd name="connsiteY28" fmla="*/ 236166 h 7521140"/>
              <a:gd name="connsiteX29" fmla="*/ 2466181 w 5982968"/>
              <a:gd name="connsiteY29" fmla="*/ 241040 h 7521140"/>
              <a:gd name="connsiteX30" fmla="*/ 2582251 w 5982968"/>
              <a:gd name="connsiteY30" fmla="*/ 244234 h 7521140"/>
              <a:gd name="connsiteX31" fmla="*/ 2700713 w 5982968"/>
              <a:gd name="connsiteY31" fmla="*/ 247092 h 7521140"/>
              <a:gd name="connsiteX32" fmla="*/ 2820373 w 5982968"/>
              <a:gd name="connsiteY32" fmla="*/ 250117 h 7521140"/>
              <a:gd name="connsiteX33" fmla="*/ 2942425 w 5982968"/>
              <a:gd name="connsiteY33" fmla="*/ 252134 h 7521140"/>
              <a:gd name="connsiteX34" fmla="*/ 3065674 w 5982968"/>
              <a:gd name="connsiteY34" fmla="*/ 252134 h 7521140"/>
              <a:gd name="connsiteX35" fmla="*/ 3190119 w 5982968"/>
              <a:gd name="connsiteY35" fmla="*/ 253143 h 7521140"/>
              <a:gd name="connsiteX36" fmla="*/ 3315762 w 5982968"/>
              <a:gd name="connsiteY36" fmla="*/ 252134 h 7521140"/>
              <a:gd name="connsiteX37" fmla="*/ 3443199 w 5982968"/>
              <a:gd name="connsiteY37" fmla="*/ 250117 h 7521140"/>
              <a:gd name="connsiteX38" fmla="*/ 3570636 w 5982968"/>
              <a:gd name="connsiteY38" fmla="*/ 248268 h 7521140"/>
              <a:gd name="connsiteX39" fmla="*/ 3699868 w 5982968"/>
              <a:gd name="connsiteY39" fmla="*/ 244234 h 7521140"/>
              <a:gd name="connsiteX40" fmla="*/ 3830297 w 5982968"/>
              <a:gd name="connsiteY40" fmla="*/ 240032 h 7521140"/>
              <a:gd name="connsiteX41" fmla="*/ 3960726 w 5982968"/>
              <a:gd name="connsiteY41" fmla="*/ 235157 h 7521140"/>
              <a:gd name="connsiteX42" fmla="*/ 4092351 w 5982968"/>
              <a:gd name="connsiteY42" fmla="*/ 228266 h 7521140"/>
              <a:gd name="connsiteX43" fmla="*/ 4225173 w 5982968"/>
              <a:gd name="connsiteY43" fmla="*/ 220029 h 7521140"/>
              <a:gd name="connsiteX44" fmla="*/ 4358593 w 5982968"/>
              <a:gd name="connsiteY44" fmla="*/ 212129 h 7521140"/>
              <a:gd name="connsiteX45" fmla="*/ 4492012 w 5982968"/>
              <a:gd name="connsiteY45" fmla="*/ 202044 h 7521140"/>
              <a:gd name="connsiteX46" fmla="*/ 4627228 w 5982968"/>
              <a:gd name="connsiteY46" fmla="*/ 189941 h 7521140"/>
              <a:gd name="connsiteX47" fmla="*/ 4760647 w 5982968"/>
              <a:gd name="connsiteY47" fmla="*/ 177839 h 7521140"/>
              <a:gd name="connsiteX48" fmla="*/ 4896461 w 5982968"/>
              <a:gd name="connsiteY48" fmla="*/ 163887 h 7521140"/>
              <a:gd name="connsiteX49" fmla="*/ 5032872 w 5982968"/>
              <a:gd name="connsiteY49" fmla="*/ 148591 h 7521140"/>
              <a:gd name="connsiteX50" fmla="*/ 5167489 w 5982968"/>
              <a:gd name="connsiteY50" fmla="*/ 132455 h 7521140"/>
              <a:gd name="connsiteX51" fmla="*/ 5303902 w 5982968"/>
              <a:gd name="connsiteY51" fmla="*/ 113629 h 7521140"/>
              <a:gd name="connsiteX52" fmla="*/ 5439714 w 5982968"/>
              <a:gd name="connsiteY52" fmla="*/ 93458 h 7521140"/>
              <a:gd name="connsiteX53" fmla="*/ 5576126 w 5982968"/>
              <a:gd name="connsiteY53" fmla="*/ 73455 h 7521140"/>
              <a:gd name="connsiteX54" fmla="*/ 5711939 w 5982968"/>
              <a:gd name="connsiteY54" fmla="*/ 50091 h 7521140"/>
              <a:gd name="connsiteX55" fmla="*/ 5847154 w 5982968"/>
              <a:gd name="connsiteY55" fmla="*/ 26222 h 752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982968" h="7521140">
                <a:moveTo>
                  <a:pt x="5982968" y="1177"/>
                </a:moveTo>
                <a:lnTo>
                  <a:pt x="5982968" y="1344715"/>
                </a:lnTo>
                <a:lnTo>
                  <a:pt x="5982967" y="1344715"/>
                </a:lnTo>
                <a:lnTo>
                  <a:pt x="5982967" y="6152387"/>
                </a:lnTo>
                <a:lnTo>
                  <a:pt x="5982968" y="6152387"/>
                </a:lnTo>
                <a:lnTo>
                  <a:pt x="5982968" y="7521140"/>
                </a:lnTo>
                <a:lnTo>
                  <a:pt x="0" y="7521140"/>
                </a:lnTo>
                <a:lnTo>
                  <a:pt x="0" y="6152387"/>
                </a:lnTo>
                <a:lnTo>
                  <a:pt x="2" y="6152387"/>
                </a:lnTo>
                <a:lnTo>
                  <a:pt x="2" y="905354"/>
                </a:lnTo>
                <a:lnTo>
                  <a:pt x="3" y="905354"/>
                </a:lnTo>
                <a:lnTo>
                  <a:pt x="3" y="0"/>
                </a:lnTo>
                <a:lnTo>
                  <a:pt x="35302" y="5883"/>
                </a:lnTo>
                <a:lnTo>
                  <a:pt x="138808" y="23197"/>
                </a:lnTo>
                <a:lnTo>
                  <a:pt x="214194" y="35299"/>
                </a:lnTo>
                <a:lnTo>
                  <a:pt x="303938" y="48074"/>
                </a:lnTo>
                <a:lnTo>
                  <a:pt x="410435" y="63370"/>
                </a:lnTo>
                <a:lnTo>
                  <a:pt x="528299" y="79507"/>
                </a:lnTo>
                <a:lnTo>
                  <a:pt x="661121" y="96484"/>
                </a:lnTo>
                <a:lnTo>
                  <a:pt x="805909" y="114469"/>
                </a:lnTo>
                <a:lnTo>
                  <a:pt x="963260" y="132455"/>
                </a:lnTo>
                <a:lnTo>
                  <a:pt x="1130783" y="150776"/>
                </a:lnTo>
                <a:lnTo>
                  <a:pt x="1311469" y="167753"/>
                </a:lnTo>
                <a:lnTo>
                  <a:pt x="1500531" y="184058"/>
                </a:lnTo>
                <a:lnTo>
                  <a:pt x="1700362" y="198850"/>
                </a:lnTo>
                <a:lnTo>
                  <a:pt x="1908569" y="212969"/>
                </a:lnTo>
                <a:lnTo>
                  <a:pt x="2125751" y="226249"/>
                </a:lnTo>
                <a:lnTo>
                  <a:pt x="2237034" y="230955"/>
                </a:lnTo>
                <a:lnTo>
                  <a:pt x="2350710" y="236166"/>
                </a:lnTo>
                <a:lnTo>
                  <a:pt x="2466181" y="241040"/>
                </a:lnTo>
                <a:lnTo>
                  <a:pt x="2582251" y="244234"/>
                </a:lnTo>
                <a:lnTo>
                  <a:pt x="2700713" y="247092"/>
                </a:lnTo>
                <a:lnTo>
                  <a:pt x="2820373" y="250117"/>
                </a:lnTo>
                <a:lnTo>
                  <a:pt x="2942425" y="252134"/>
                </a:lnTo>
                <a:lnTo>
                  <a:pt x="3065674" y="252134"/>
                </a:lnTo>
                <a:lnTo>
                  <a:pt x="3190119" y="253143"/>
                </a:lnTo>
                <a:lnTo>
                  <a:pt x="3315762" y="252134"/>
                </a:lnTo>
                <a:lnTo>
                  <a:pt x="3443199" y="250117"/>
                </a:lnTo>
                <a:lnTo>
                  <a:pt x="3570636" y="248268"/>
                </a:lnTo>
                <a:lnTo>
                  <a:pt x="3699868" y="244234"/>
                </a:lnTo>
                <a:lnTo>
                  <a:pt x="3830297" y="240032"/>
                </a:lnTo>
                <a:lnTo>
                  <a:pt x="3960726" y="235157"/>
                </a:lnTo>
                <a:lnTo>
                  <a:pt x="4092351" y="228266"/>
                </a:lnTo>
                <a:lnTo>
                  <a:pt x="4225173" y="220029"/>
                </a:lnTo>
                <a:lnTo>
                  <a:pt x="4358593" y="212129"/>
                </a:lnTo>
                <a:lnTo>
                  <a:pt x="4492012" y="202044"/>
                </a:lnTo>
                <a:lnTo>
                  <a:pt x="4627228" y="189941"/>
                </a:lnTo>
                <a:lnTo>
                  <a:pt x="4760647" y="177839"/>
                </a:lnTo>
                <a:lnTo>
                  <a:pt x="4896461" y="163887"/>
                </a:lnTo>
                <a:lnTo>
                  <a:pt x="5032872" y="148591"/>
                </a:lnTo>
                <a:lnTo>
                  <a:pt x="5167489" y="132455"/>
                </a:lnTo>
                <a:lnTo>
                  <a:pt x="5303902" y="113629"/>
                </a:lnTo>
                <a:lnTo>
                  <a:pt x="5439714" y="93458"/>
                </a:lnTo>
                <a:lnTo>
                  <a:pt x="5576126" y="73455"/>
                </a:lnTo>
                <a:lnTo>
                  <a:pt x="5711939" y="50091"/>
                </a:lnTo>
                <a:lnTo>
                  <a:pt x="584715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D8CD9-0A81-4891-8537-52BE35210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8376" y="437513"/>
            <a:ext cx="5287601" cy="5954325"/>
          </a:xfrm>
        </p:spPr>
        <p:txBody>
          <a:bodyPr anchor="ctr">
            <a:normAutofit/>
          </a:bodyPr>
          <a:lstStyle/>
          <a:p>
            <a:r>
              <a:rPr lang="en-US" altLang="ko-KR" sz="2400" dirty="0"/>
              <a:t>S : </a:t>
            </a:r>
            <a:r>
              <a:rPr lang="ko-KR" altLang="en-US" sz="2400" dirty="0"/>
              <a:t>상태 </a:t>
            </a:r>
            <a:r>
              <a:rPr lang="en-US" altLang="ko-KR" sz="2400" dirty="0"/>
              <a:t>(State)</a:t>
            </a:r>
          </a:p>
          <a:p>
            <a:endParaRPr lang="en-US" altLang="ko-KR" sz="2400" dirty="0"/>
          </a:p>
          <a:p>
            <a:r>
              <a:rPr lang="en-US" altLang="ko-KR" sz="2400" dirty="0"/>
              <a:t>A : </a:t>
            </a:r>
            <a:r>
              <a:rPr lang="ko-KR" altLang="en-US" sz="2400" dirty="0"/>
              <a:t>행동 </a:t>
            </a:r>
            <a:r>
              <a:rPr lang="en-US" altLang="ko-KR" sz="2400" dirty="0"/>
              <a:t>(Action)</a:t>
            </a:r>
          </a:p>
          <a:p>
            <a:endParaRPr lang="en-US" altLang="ko-KR" sz="2400" dirty="0"/>
          </a:p>
          <a:p>
            <a:r>
              <a:rPr lang="en-US" altLang="ko-KR" sz="2400" dirty="0"/>
              <a:t>R : </a:t>
            </a:r>
            <a:r>
              <a:rPr lang="ko-KR" altLang="en-US" sz="2400" dirty="0"/>
              <a:t>보상함수</a:t>
            </a:r>
            <a:r>
              <a:rPr lang="en-US" altLang="ko-KR" sz="2400" dirty="0"/>
              <a:t>(Reward Function)</a:t>
            </a:r>
          </a:p>
          <a:p>
            <a:endParaRPr lang="en-US" altLang="ko-KR" sz="2400" dirty="0"/>
          </a:p>
          <a:p>
            <a:r>
              <a:rPr lang="en-US" altLang="ko-KR" sz="2400" dirty="0"/>
              <a:t>T : </a:t>
            </a:r>
            <a:r>
              <a:rPr lang="ko-KR" altLang="en-US" sz="2400" dirty="0"/>
              <a:t>상태 변환 확률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(State Transition Probability)</a:t>
            </a:r>
          </a:p>
          <a:p>
            <a:endParaRPr lang="en-US" altLang="ko-KR" sz="2400" dirty="0"/>
          </a:p>
          <a:p>
            <a:r>
              <a:rPr lang="el-GR" altLang="ko-KR" sz="2400" dirty="0"/>
              <a:t>Λ</a:t>
            </a:r>
            <a:r>
              <a:rPr lang="en-US" altLang="ko-KR" sz="2400" dirty="0"/>
              <a:t> : </a:t>
            </a:r>
            <a:r>
              <a:rPr lang="ko-KR" altLang="en-US" sz="2400" dirty="0"/>
              <a:t>할인율 </a:t>
            </a:r>
            <a:r>
              <a:rPr lang="en-US" altLang="ko-KR" sz="2400" dirty="0"/>
              <a:t>(Discount Factor)</a:t>
            </a:r>
          </a:p>
        </p:txBody>
      </p:sp>
    </p:spTree>
    <p:extLst>
      <p:ext uri="{BB962C8B-B14F-4D97-AF65-F5344CB8AC3E}">
        <p14:creationId xmlns:p14="http://schemas.microsoft.com/office/powerpoint/2010/main" val="398215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4681FF4-3EEA-44D7-B0DB-A5BAA271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781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</a:pP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S: location (</a:t>
            </a:r>
            <a:r>
              <a:rPr lang="en-US" altLang="ko-KR" sz="30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x,y</a:t>
            </a: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)</a:t>
            </a:r>
            <a:b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</a:t>
            </a:r>
            <a:r>
              <a:rPr lang="en-US" altLang="ko-KR" sz="16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0</a:t>
            </a: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: start state</a:t>
            </a:r>
            <a:b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s: current state</a:t>
            </a:r>
            <a:b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s’ : next state</a:t>
            </a:r>
            <a:b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ko-KR" sz="30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</a:t>
            </a:r>
            <a:r>
              <a:rPr lang="en-US" altLang="ko-KR" sz="1600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altLang="ko-KR" sz="3000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state at time </a:t>
            </a:r>
            <a:r>
              <a:rPr lang="en-US" altLang="ko-KR" sz="3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altLang="ko-KR" sz="3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altLang="ko-KR" sz="30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95A639A-E426-44C5-848D-C8483C5FA1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13" t="6239" r="1063" b="1350"/>
          <a:stretch/>
        </p:blipFill>
        <p:spPr>
          <a:xfrm>
            <a:off x="1109763" y="1175169"/>
            <a:ext cx="6443180" cy="450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4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61F655-345C-4AD8-85BC-913D875232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3780CE-2BE5-46F6-97B2-60DF30217ED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233DC0E-DE6C-4FB6-A529-51B162641A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870477F-E451-4BC3-863F-0E2FC57288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FBA05C-D740-40CE-9A7D-9E5A715AEA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4A81DE1-E2BC-4A31-99EE-71350421B0E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DE8183D-5757-4D73-A338-62BDD88E49B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6ACD5FC-CAFE-48EB-B765-60EED2E052F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0295CE-4E34-45B6-8CC7-45C3E402B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233" y="1358900"/>
            <a:ext cx="3857127" cy="389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</a:rPr>
              <a:t>S: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</a:rPr>
              <a:t>location(</a:t>
            </a:r>
            <a:r>
              <a:rPr lang="en-US" altLang="ko-KR" sz="3200" dirty="0" err="1">
                <a:solidFill>
                  <a:schemeClr val="bg1">
                    <a:lumMod val="50000"/>
                  </a:schemeClr>
                </a:solidFill>
              </a:rPr>
              <a:t>x,y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3200" dirty="0">
                <a:solidFill>
                  <a:srgbClr val="FFFFFF"/>
                </a:solidFill>
              </a:rPr>
              <a:t>A: move up, down, left, or right</a:t>
            </a:r>
            <a:endParaRPr lang="ko-KR" altLang="en-US" sz="3200" dirty="0">
              <a:solidFill>
                <a:srgbClr val="FFFF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BFEC7A-14A5-4F0A-80C3-34462A8EAC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13" t="6239" r="1063" b="1350"/>
          <a:stretch/>
        </p:blipFill>
        <p:spPr>
          <a:xfrm>
            <a:off x="5194607" y="1193235"/>
            <a:ext cx="6391533" cy="447152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156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D61C18-F648-494C-8BF2-6EF8D2DD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241" y="2273133"/>
            <a:ext cx="3611329" cy="31537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3200" b="0" i="0" kern="120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 : location(</a:t>
            </a:r>
            <a:r>
              <a:rPr lang="en-US" altLang="ko-KR" sz="3200" b="0" i="0" kern="1200" dirty="0" err="1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x,y</a:t>
            </a:r>
            <a:r>
              <a:rPr lang="en-US" altLang="ko-KR" sz="3200" b="0" i="0" kern="120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)</a:t>
            </a:r>
            <a:br>
              <a:rPr lang="en-US" altLang="ko-KR" sz="3200" b="0" i="0" kern="120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0" i="0" kern="120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A: move up, down, left, or right</a:t>
            </a:r>
            <a: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R: how good was the chosen action?</a:t>
            </a:r>
            <a:b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 = R(s, a, s’)</a:t>
            </a:r>
            <a:b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altLang="ko-KR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·  -1 for moving</a:t>
            </a:r>
            <a:r>
              <a:rPr lang="en-US" altLang="ko-KR" sz="3200" dirty="0">
                <a:solidFill>
                  <a:srgbClr val="EBEBEB"/>
                </a:solidFill>
              </a:rPr>
              <a:t/>
            </a:r>
            <a:br>
              <a:rPr lang="en-US" altLang="ko-KR" sz="3200" dirty="0">
                <a:solidFill>
                  <a:srgbClr val="EBEBEB"/>
                </a:solidFill>
              </a:rPr>
            </a:br>
            <a:r>
              <a:rPr lang="en-US" altLang="ko-KR" sz="3200" dirty="0">
                <a:solidFill>
                  <a:srgbClr val="EBEBEB"/>
                </a:solidFill>
              </a:rPr>
              <a:t>· +1 for jewel, </a:t>
            </a:r>
            <a:br>
              <a:rPr lang="en-US" altLang="ko-KR" sz="3200" dirty="0">
                <a:solidFill>
                  <a:srgbClr val="EBEBEB"/>
                </a:solidFill>
              </a:rPr>
            </a:br>
            <a:r>
              <a:rPr lang="en-US" altLang="ko-KR" sz="3200" dirty="0">
                <a:solidFill>
                  <a:srgbClr val="EBEBEB"/>
                </a:solidFill>
              </a:rPr>
              <a:t>  +100 for exit</a:t>
            </a:r>
            <a:endParaRPr lang="en-US" altLang="ko-KR" sz="32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EBAE39B-6BDE-46A1-A90B-5C2CF7BCD7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13" t="6239" r="1063" b="1350"/>
          <a:stretch/>
        </p:blipFill>
        <p:spPr>
          <a:xfrm>
            <a:off x="1109763" y="1175169"/>
            <a:ext cx="6443180" cy="450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73C75B33-8B9C-4C30-B69D-6F21F9FFF7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0C9632-BB6F-48EE-AB65-501878BA5DB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63B1F66-4ACE-4A01-8ADF-F175A9C358B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8448ED-9332-4A9B-8CAB-B1985E596E2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733D14-EF47-47BB-93CA-C498A30E0D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D3A2261-1C75-40FF-8CD6-18C5900C1C8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7C8D7967-7E76-49C0-8910-644CD2B545A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C89ED458-2326-40DC-9C7B-1A717B6551A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67B69-F4F2-4E46-A25A-D6C8E4CC4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29" y="2046540"/>
            <a:ext cx="4343974" cy="38989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</a:rPr>
              <a:t>T : where is the robot’s new location?</a:t>
            </a:r>
          </a:p>
          <a:p>
            <a:pPr marL="0" indent="0">
              <a:buNone/>
            </a:pPr>
            <a:r>
              <a:rPr lang="en-US" altLang="ko-KR" sz="3200" dirty="0">
                <a:solidFill>
                  <a:schemeClr val="bg1"/>
                </a:solidFill>
              </a:rPr>
              <a:t>	T(s’|</a:t>
            </a:r>
            <a:r>
              <a:rPr lang="en-US" altLang="ko-KR" sz="3200" dirty="0" err="1">
                <a:solidFill>
                  <a:schemeClr val="bg1"/>
                </a:solidFill>
              </a:rPr>
              <a:t>s,a</a:t>
            </a:r>
            <a:r>
              <a:rPr lang="en-US" altLang="ko-KR" sz="32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595740-D061-44F9-B815-E9363DC968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138" r="11692"/>
          <a:stretch/>
        </p:blipFill>
        <p:spPr>
          <a:xfrm>
            <a:off x="5194607" y="803751"/>
            <a:ext cx="6391533" cy="5250498"/>
          </a:xfrm>
          <a:prstGeom prst="rect">
            <a:avLst/>
          </a:prstGeom>
        </p:spPr>
      </p:pic>
      <p:sp>
        <p:nvSpPr>
          <p:cNvPr id="21" name="Rectangle 17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1389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D24E20-E07D-459F-AB54-EF2ED8D4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</a:rPr>
              <a:t>T : robot’s new location?</a:t>
            </a:r>
            <a:r>
              <a:rPr lang="en-US" altLang="ko-KR" sz="3200" dirty="0">
                <a:solidFill>
                  <a:srgbClr val="EBEBEB"/>
                </a:solidFill>
              </a:rPr>
              <a:t/>
            </a:r>
            <a:br>
              <a:rPr lang="en-US" altLang="ko-KR" sz="3200" dirty="0">
                <a:solidFill>
                  <a:srgbClr val="EBEBEB"/>
                </a:solidFill>
              </a:rPr>
            </a:br>
            <a:r>
              <a:rPr lang="el-GR" altLang="ko-KR" sz="3200" dirty="0">
                <a:solidFill>
                  <a:srgbClr val="EBEBEB"/>
                </a:solidFill>
              </a:rPr>
              <a:t>Λ</a:t>
            </a:r>
            <a:r>
              <a:rPr lang="en-US" altLang="ko-KR" sz="3200" dirty="0">
                <a:solidFill>
                  <a:srgbClr val="EBEBEB"/>
                </a:solidFill>
              </a:rPr>
              <a:t> : how much does future reward worth?</a:t>
            </a:r>
            <a:br>
              <a:rPr lang="en-US" altLang="ko-KR" sz="3200" dirty="0">
                <a:solidFill>
                  <a:srgbClr val="EBEBEB"/>
                </a:solidFill>
              </a:rPr>
            </a:br>
            <a:r>
              <a:rPr lang="en-US" altLang="ko-KR" sz="3200" dirty="0">
                <a:solidFill>
                  <a:srgbClr val="EBEBEB"/>
                </a:solidFill>
              </a:rPr>
              <a:t>	0≤</a:t>
            </a:r>
            <a:r>
              <a:rPr lang="el-GR" altLang="ko-KR" sz="3200" dirty="0">
                <a:solidFill>
                  <a:srgbClr val="EBEBEB"/>
                </a:solidFill>
              </a:rPr>
              <a:t>Λ</a:t>
            </a:r>
            <a:r>
              <a:rPr lang="en-US" altLang="ko-KR" sz="3200" dirty="0">
                <a:solidFill>
                  <a:srgbClr val="EBEBEB"/>
                </a:solidFill>
              </a:rPr>
              <a:t> ≤1</a:t>
            </a:r>
            <a:endParaRPr lang="en-US" altLang="ko-KR" sz="32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533959B-9EEF-412E-91AD-FA9B25EEB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63" y="1882637"/>
            <a:ext cx="6443180" cy="309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강화학습의</a:t>
            </a:r>
            <a:r>
              <a:rPr lang="ko-KR" altLang="en-US" dirty="0" smtClean="0"/>
              <a:t> 구성</a:t>
            </a:r>
            <a:endParaRPr lang="ko-KR" altLang="en-US" dirty="0"/>
          </a:p>
        </p:txBody>
      </p:sp>
      <p:pic>
        <p:nvPicPr>
          <p:cNvPr id="4" name="Picture 4" descr="ê°ííìµì êµ¬ì±ìì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376" y="2978034"/>
            <a:ext cx="6919560" cy="266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95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2D56D-F14C-47F7-9827-08E1E155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Markov</a:t>
            </a:r>
            <a:r>
              <a:rPr lang="ko-KR" altLang="en-US" dirty="0"/>
              <a:t> </a:t>
            </a:r>
            <a:r>
              <a:rPr lang="en-US" altLang="ko-KR" dirty="0"/>
              <a:t>Property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0172A-590C-444F-A5C7-620157A1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s</a:t>
            </a:r>
            <a:r>
              <a:rPr lang="en-US" altLang="ko-KR" sz="1600" dirty="0"/>
              <a:t>t+1 </a:t>
            </a:r>
            <a:r>
              <a:rPr lang="en-US" altLang="ko-KR" sz="3200" dirty="0"/>
              <a:t>depend on (s</a:t>
            </a:r>
            <a:r>
              <a:rPr lang="en-US" altLang="ko-KR" sz="1600" dirty="0"/>
              <a:t>0</a:t>
            </a:r>
            <a:r>
              <a:rPr lang="en-US" altLang="ko-KR" sz="3200" dirty="0"/>
              <a:t>, s</a:t>
            </a:r>
            <a:r>
              <a:rPr lang="en-US" altLang="ko-KR" sz="1600" dirty="0"/>
              <a:t>1</a:t>
            </a:r>
            <a:r>
              <a:rPr lang="en-US" altLang="ko-KR" sz="3200" dirty="0"/>
              <a:t>, … , s</a:t>
            </a:r>
            <a:r>
              <a:rPr lang="en-US" altLang="ko-KR" sz="1600" dirty="0"/>
              <a:t>t-1</a:t>
            </a:r>
            <a:r>
              <a:rPr lang="en-US" altLang="ko-KR" sz="3200" dirty="0"/>
              <a:t>, </a:t>
            </a:r>
            <a:r>
              <a:rPr lang="en-US" altLang="ko-KR" sz="3200" dirty="0" err="1"/>
              <a:t>s</a:t>
            </a:r>
            <a:r>
              <a:rPr lang="en-US" altLang="ko-KR" sz="1600" dirty="0" err="1"/>
              <a:t>t</a:t>
            </a:r>
            <a:r>
              <a:rPr lang="en-US" altLang="ko-KR" sz="3200" dirty="0"/>
              <a:t>)??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7170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029C5-7292-4969-A62A-6FAC7B23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Markov Property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81FE2-6BFB-409E-9329-238579463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solidFill>
                  <a:srgbClr val="FF0000"/>
                </a:solidFill>
              </a:rPr>
              <a:t>NO!!</a:t>
            </a:r>
          </a:p>
          <a:p>
            <a:endParaRPr lang="en-US" altLang="ko-KR" dirty="0"/>
          </a:p>
          <a:p>
            <a:r>
              <a:rPr lang="en-US" altLang="ko-KR" b="1" dirty="0"/>
              <a:t>Memoryless property</a:t>
            </a:r>
          </a:p>
          <a:p>
            <a:pPr lvl="1"/>
            <a:r>
              <a:rPr lang="en-US" altLang="ko-KR" dirty="0"/>
              <a:t>Future only depends on present)</a:t>
            </a:r>
          </a:p>
          <a:p>
            <a:pPr lvl="1"/>
            <a:r>
              <a:rPr lang="en-US" altLang="ko-KR" dirty="0"/>
              <a:t>Current state is a sufficient statistic of agent’s history</a:t>
            </a:r>
          </a:p>
          <a:p>
            <a:pPr lvl="1"/>
            <a:r>
              <a:rPr lang="en-US" altLang="ko-KR" dirty="0"/>
              <a:t>No need to remember agent’s history</a:t>
            </a:r>
          </a:p>
          <a:p>
            <a:pPr marL="457200" lvl="1" indent="0">
              <a:buNone/>
            </a:pPr>
            <a:r>
              <a:rPr lang="en-US" altLang="ko-KR" b="1" dirty="0"/>
              <a:t>s</a:t>
            </a:r>
            <a:r>
              <a:rPr lang="en-US" altLang="ko-KR" sz="1200" b="1" dirty="0"/>
              <a:t>t+1</a:t>
            </a:r>
            <a:r>
              <a:rPr lang="en-US" altLang="ko-KR" b="1" dirty="0"/>
              <a:t> depends only on </a:t>
            </a:r>
            <a:r>
              <a:rPr lang="en-US" altLang="ko-KR" b="1" dirty="0" err="1"/>
              <a:t>s</a:t>
            </a:r>
            <a:r>
              <a:rPr lang="en-US" altLang="ko-KR" sz="1200" b="1" dirty="0" err="1"/>
              <a:t>t</a:t>
            </a:r>
            <a:r>
              <a:rPr lang="en-US" altLang="ko-KR" b="1" dirty="0"/>
              <a:t> and a</a:t>
            </a:r>
            <a:r>
              <a:rPr lang="en-US" altLang="ko-KR" sz="1200" b="1" dirty="0"/>
              <a:t>t</a:t>
            </a:r>
          </a:p>
          <a:p>
            <a:pPr marL="457200" lvl="1" indent="0">
              <a:buNone/>
            </a:pPr>
            <a:r>
              <a:rPr lang="en-US" altLang="ko-KR" b="1" dirty="0"/>
              <a:t>r</a:t>
            </a:r>
            <a:r>
              <a:rPr lang="en-US" altLang="ko-KR" sz="1200" b="1" dirty="0"/>
              <a:t>t</a:t>
            </a:r>
            <a:r>
              <a:rPr lang="en-US" altLang="ko-KR" b="1" dirty="0"/>
              <a:t> depends only on </a:t>
            </a:r>
            <a:r>
              <a:rPr lang="en-US" altLang="ko-KR" b="1" dirty="0" err="1"/>
              <a:t>s</a:t>
            </a:r>
            <a:r>
              <a:rPr lang="en-US" altLang="ko-KR" sz="1200" b="1" dirty="0" err="1"/>
              <a:t>t</a:t>
            </a:r>
            <a:r>
              <a:rPr lang="en-US" altLang="ko-KR" b="1" dirty="0"/>
              <a:t> and a</a:t>
            </a:r>
            <a:r>
              <a:rPr lang="en-US" altLang="ko-KR" sz="1200" b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38403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FFE4BE0-D95E-44D8-B951-122D45F861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FBE54E-A701-4039-AC57-CF06B37CC62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D33A9890-FE1F-4F08-8EF4-FD2B4395460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087B174-82D6-49F4-8F59-3EE15EA42B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r="1540" b="-2"/>
          <a:stretch/>
        </p:blipFill>
        <p:spPr>
          <a:xfrm>
            <a:off x="474133" y="482600"/>
            <a:ext cx="11243734" cy="590973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BEC893A-CA93-420F-9196-B6860EA9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altLang="ko-KR" dirty="0"/>
              <a:t>Policy and Return</a:t>
            </a:r>
            <a:endParaRPr lang="ko-KR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515798-C8A3-40E7-A830-82681C81A0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8E13E-6352-4E5C-9E72-C4A07F0C0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820333"/>
            <a:ext cx="8825659" cy="4199467"/>
          </a:xfrm>
        </p:spPr>
        <p:txBody>
          <a:bodyPr anchor="ctr"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</a:rPr>
              <a:t>Policy:</a:t>
            </a:r>
          </a:p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π : S </a:t>
            </a:r>
            <a:r>
              <a:rPr lang="en-US" altLang="ko-KR" sz="2800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→ </a:t>
            </a:r>
            <a:r>
              <a:rPr lang="en-US" altLang="ko-KR" sz="2800" dirty="0">
                <a:solidFill>
                  <a:schemeClr val="bg1"/>
                </a:solidFill>
              </a:rPr>
              <a:t>A</a:t>
            </a:r>
          </a:p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Maps states to actions</a:t>
            </a:r>
          </a:p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Gives an action for every state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9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FFE4BE0-D95E-44D8-B951-122D45F861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FBE54E-A701-4039-AC57-CF06B37CC62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D33A9890-FE1F-4F08-8EF4-FD2B4395460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087B174-82D6-49F4-8F59-3EE15EA42B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r="1540" b="-2"/>
          <a:stretch/>
        </p:blipFill>
        <p:spPr>
          <a:xfrm>
            <a:off x="462844" y="482600"/>
            <a:ext cx="11243734" cy="590973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BEC893A-CA93-420F-9196-B6860EA9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altLang="ko-KR" dirty="0"/>
              <a:t>Policy and Return</a:t>
            </a:r>
            <a:endParaRPr lang="ko-KR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515798-C8A3-40E7-A830-82681C81A0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48E13E-6352-4E5C-9E72-C4A07F0C0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4954" y="1820333"/>
                <a:ext cx="8825659" cy="4199467"/>
              </a:xfrm>
            </p:spPr>
            <p:txBody>
              <a:bodyPr anchor="ctr">
                <a:normAutofit/>
              </a:bodyPr>
              <a:lstStyle/>
              <a:p>
                <a:r>
                  <a:rPr lang="en-US" altLang="ko-KR" sz="3200" dirty="0">
                    <a:solidFill>
                      <a:schemeClr val="bg1"/>
                    </a:solidFill>
                  </a:rPr>
                  <a:t>Return:</a:t>
                </a:r>
              </a:p>
              <a:p>
                <a:pPr lvl="1"/>
                <a:r>
                  <a:rPr lang="en-US" altLang="ko-KR" sz="2800" dirty="0">
                    <a:solidFill>
                      <a:schemeClr val="bg1"/>
                    </a:solidFill>
                  </a:rPr>
                  <a:t>Discounted sum of rewards</a:t>
                </a:r>
              </a:p>
              <a:p>
                <a:pPr lvl="1"/>
                <a:r>
                  <a:rPr lang="en-US" altLang="ko-KR" sz="2800" dirty="0">
                    <a:solidFill>
                      <a:schemeClr val="bg1"/>
                    </a:solidFill>
                  </a:rPr>
                  <a:t>Could be undiscounted, finite horizon</a:t>
                </a:r>
              </a:p>
              <a:p>
                <a:pPr marL="457200" lvl="1" indent="0">
                  <a:buNone/>
                </a:pPr>
                <a:r>
                  <a:rPr lang="en-US" altLang="ko-KR" sz="2800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D48E13E-6352-4E5C-9E72-C4A07F0C0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4954" y="1820333"/>
                <a:ext cx="8825659" cy="4199467"/>
              </a:xfrm>
              <a:blipFill>
                <a:blip r:embed="rId5"/>
                <a:stretch>
                  <a:fillRect l="-10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53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FFE4BE0-D95E-44D8-B951-122D45F861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FBE54E-A701-4039-AC57-CF06B37CC62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33A9890-FE1F-4F08-8EF4-FD2B4395460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087B174-82D6-49F4-8F59-3EE15EA42B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/>
          </a:blip>
          <a:srcRect r="1540" b="-2"/>
          <a:stretch/>
        </p:blipFill>
        <p:spPr>
          <a:xfrm>
            <a:off x="474133" y="482600"/>
            <a:ext cx="11243734" cy="590973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BEC893A-CA93-420F-9196-B6860EA9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altLang="ko-KR" dirty="0"/>
              <a:t>Policy and Return</a:t>
            </a:r>
            <a:endParaRPr lang="ko-KR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15798-C8A3-40E7-A830-82681C81A0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8E13E-6352-4E5C-9E72-C4A07F0C0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820333"/>
            <a:ext cx="8825659" cy="4199467"/>
          </a:xfrm>
        </p:spPr>
        <p:txBody>
          <a:bodyPr anchor="ctr">
            <a:norm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Our goal:</a:t>
            </a:r>
          </a:p>
          <a:p>
            <a:pPr lvl="1"/>
            <a:r>
              <a:rPr lang="en-US" altLang="ko-KR" sz="2200" b="1" dirty="0">
                <a:solidFill>
                  <a:schemeClr val="bg1"/>
                </a:solidFill>
              </a:rPr>
              <a:t>Find </a:t>
            </a:r>
            <a:r>
              <a:rPr lang="en-US" altLang="ko-KR" sz="2200" b="1" dirty="0" smtClean="0">
                <a:solidFill>
                  <a:schemeClr val="bg1"/>
                </a:solidFill>
              </a:rPr>
              <a:t>π</a:t>
            </a:r>
            <a:r>
              <a:rPr lang="en-US" altLang="ko-KR" sz="2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</a:rPr>
              <a:t>that maximizes expected return!</a:t>
            </a:r>
            <a:endParaRPr lang="ko-KR" altLang="en-US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8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23FE5-A239-4182-ADA7-503FCED2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Value Functions (V,Q)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B2DA4D-F9FE-46F1-B1D3-A0525D271E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State Value Function (V):</a:t>
                </a:r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Expected return of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starting at state s and following policy pi</a:t>
                </a:r>
              </a:p>
              <a:p>
                <a:pPr lvl="1"/>
                <a:r>
                  <a:rPr lang="en-US" altLang="ko-KR" dirty="0"/>
                  <a:t>“How much return do I expected starting from states s?”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B2DA4D-F9FE-46F1-B1D3-A0525D271E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" t="-8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407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CC319-7D42-4387-88A5-261F7351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Value Functions (V,Q)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F8C7F73-BA36-49F9-83F0-5ACA2EEBFC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Action Value Function (Q)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begChr m:val="[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Expected returns </a:t>
                </a:r>
                <a:r>
                  <a:rPr lang="en-US" altLang="ko-KR" b="1" dirty="0"/>
                  <a:t>of starting at state s, taking action a, and then following policy π</a:t>
                </a:r>
              </a:p>
              <a:p>
                <a:r>
                  <a:rPr lang="en-US" altLang="ko-KR" dirty="0"/>
                  <a:t>“How much return do I expect starting from state s and taking action a?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F8C7F73-BA36-49F9-83F0-5ACA2EEBF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8" t="-8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653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5">
            <a:extLst>
              <a:ext uri="{FF2B5EF4-FFF2-40B4-BE49-F238E27FC236}">
                <a16:creationId xmlns:a16="http://schemas.microsoft.com/office/drawing/2014/main" id="{71616407-3E4D-4469-BDAF-3837EBF9FDA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1" name="그림 10" descr="시계, 하늘, 벽이(가) 표시된 사진&#10;&#10;매우 높은 신뢰도로 생성된 설명">
            <a:extLst>
              <a:ext uri="{FF2B5EF4-FFF2-40B4-BE49-F238E27FC236}">
                <a16:creationId xmlns:a16="http://schemas.microsoft.com/office/drawing/2014/main" id="{D5A6D385-C585-439F-9B1F-267445195A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/>
          </a:blip>
          <a:srcRect l="5002" r="2997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89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Planning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</a:t>
            </a:r>
            <a:r>
              <a:rPr lang="en-US" altLang="ko-KR" dirty="0"/>
              <a:t>( s’|</a:t>
            </a:r>
            <a:r>
              <a:rPr lang="en-US" altLang="ko-KR" dirty="0" err="1"/>
              <a:t>s,a</a:t>
            </a:r>
            <a:r>
              <a:rPr lang="en-US" altLang="ko-KR" dirty="0"/>
              <a:t>) </a:t>
            </a:r>
            <a:r>
              <a:rPr lang="ko-KR" altLang="en-US" dirty="0" smtClean="0"/>
              <a:t>와</a:t>
            </a:r>
            <a:r>
              <a:rPr lang="en-US" altLang="ko-KR" dirty="0" smtClean="0"/>
              <a:t> </a:t>
            </a:r>
            <a:r>
              <a:rPr lang="en-US" altLang="ko-KR" dirty="0"/>
              <a:t>R(</a:t>
            </a:r>
            <a:r>
              <a:rPr lang="en-US" altLang="ko-KR" dirty="0" err="1"/>
              <a:t>s,a,s</a:t>
            </a:r>
            <a:r>
              <a:rPr lang="en-US" altLang="ko-KR" dirty="0" smtClean="0"/>
              <a:t>’)</a:t>
            </a:r>
            <a:r>
              <a:rPr lang="ko-KR" altLang="en-US" dirty="0" smtClean="0"/>
              <a:t>을 알 수 있다면</a:t>
            </a:r>
            <a:r>
              <a:rPr lang="en-US" altLang="ko-KR" dirty="0" smtClean="0"/>
              <a:t>, MDP</a:t>
            </a:r>
            <a:r>
              <a:rPr lang="ko-KR" altLang="en-US" dirty="0" smtClean="0"/>
              <a:t>는</a:t>
            </a:r>
            <a:r>
              <a:rPr lang="en-US" altLang="ko-KR" dirty="0" smtClean="0"/>
              <a:t> </a:t>
            </a:r>
            <a:r>
              <a:rPr lang="en-US" altLang="ko-KR" b="1" dirty="0" smtClean="0"/>
              <a:t>planning</a:t>
            </a:r>
            <a:r>
              <a:rPr lang="en-US" altLang="ko-KR" dirty="0" smtClean="0"/>
              <a:t> </a:t>
            </a:r>
            <a:r>
              <a:rPr lang="ko-KR" altLang="en-US" dirty="0" smtClean="0"/>
              <a:t>문제가 됩니다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b="1" dirty="0" smtClean="0"/>
              <a:t>dynamic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programming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이용하여 최적의 정책을 찾을 수 있습니다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32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610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Reinforcement Learning (Value based)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T( s’|</a:t>
            </a:r>
            <a:r>
              <a:rPr lang="en-US" altLang="ko-KR" dirty="0" err="1"/>
              <a:t>s,a</a:t>
            </a:r>
            <a:r>
              <a:rPr lang="en-US" altLang="ko-KR" dirty="0"/>
              <a:t>) and R(</a:t>
            </a:r>
            <a:r>
              <a:rPr lang="en-US" altLang="ko-KR" dirty="0" err="1"/>
              <a:t>s,a,s</a:t>
            </a:r>
            <a:r>
              <a:rPr lang="en-US" altLang="ko-KR" dirty="0"/>
              <a:t>’) are unknown, this is a </a:t>
            </a:r>
            <a:r>
              <a:rPr lang="en-US" altLang="ko-KR" b="1" dirty="0"/>
              <a:t>reinforcement learning </a:t>
            </a:r>
            <a:r>
              <a:rPr lang="en-US" altLang="ko-KR" dirty="0"/>
              <a:t>problem</a:t>
            </a:r>
          </a:p>
          <a:p>
            <a:r>
              <a:rPr lang="en-US" altLang="ko-KR" dirty="0"/>
              <a:t>Agent need to interact with the world and gather experience</a:t>
            </a:r>
          </a:p>
          <a:p>
            <a:endParaRPr lang="en-US" altLang="ko-KR" dirty="0"/>
          </a:p>
          <a:p>
            <a:r>
              <a:rPr lang="en-US" altLang="ko-KR" dirty="0"/>
              <a:t>At each 	time-step</a:t>
            </a:r>
          </a:p>
          <a:p>
            <a:pPr lvl="1"/>
            <a:r>
              <a:rPr lang="en-US" altLang="ko-KR" dirty="0"/>
              <a:t>From state s</a:t>
            </a:r>
          </a:p>
          <a:p>
            <a:pPr lvl="1"/>
            <a:r>
              <a:rPr lang="en-US" altLang="ko-KR" dirty="0"/>
              <a:t>Take action a (a=π(s),</a:t>
            </a:r>
            <a:r>
              <a:rPr lang="ko-KR" altLang="en-US" dirty="0"/>
              <a:t> </a:t>
            </a:r>
            <a:r>
              <a:rPr lang="en-US" altLang="ko-KR" dirty="0"/>
              <a:t>a~π(s) if stochastic, ε-greedy, </a:t>
            </a:r>
            <a:r>
              <a:rPr lang="en-US" altLang="ko-KR" dirty="0" err="1"/>
              <a:t>etc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Receive reward r</a:t>
            </a:r>
          </a:p>
          <a:p>
            <a:pPr lvl="1"/>
            <a:r>
              <a:rPr lang="en-US" altLang="ko-KR" dirty="0"/>
              <a:t>End in state s’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981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234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1369</Words>
  <Application>Microsoft Office PowerPoint</Application>
  <PresentationFormat>와이드스크린</PresentationFormat>
  <Paragraphs>162</Paragraphs>
  <Slides>21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맑은 고딕</vt:lpstr>
      <vt:lpstr>Batang</vt:lpstr>
      <vt:lpstr>Arial</vt:lpstr>
      <vt:lpstr>Cambria Math</vt:lpstr>
      <vt:lpstr>Century Gothic</vt:lpstr>
      <vt:lpstr>Wingdings 3</vt:lpstr>
      <vt:lpstr>이온(회의실)</vt:lpstr>
      <vt:lpstr>Reinforcement Learning</vt:lpstr>
      <vt:lpstr>Contents</vt:lpstr>
      <vt:lpstr>Markov Decision Proces</vt:lpstr>
      <vt:lpstr>S: location (x,y)   s0 : start state  s: current state  s’ : next state  st: state at time  </vt:lpstr>
      <vt:lpstr>PowerPoint 프레젠테이션</vt:lpstr>
      <vt:lpstr>S : location(x,y) A: move up, down, left, or right R: how good was the chosen action? r = R(s, a, s’) ·  -1 for moving · +1 for jewel,    +100 for exit</vt:lpstr>
      <vt:lpstr>PowerPoint 프레젠테이션</vt:lpstr>
      <vt:lpstr>T : robot’s new location? Λ : how much does future reward worth?  0≤Λ ≤1</vt:lpstr>
      <vt:lpstr>강화학습의 구성</vt:lpstr>
      <vt:lpstr>Markov Property</vt:lpstr>
      <vt:lpstr>Markov Property</vt:lpstr>
      <vt:lpstr>Policy and Return</vt:lpstr>
      <vt:lpstr>Policy and Return</vt:lpstr>
      <vt:lpstr>Policy and Return</vt:lpstr>
      <vt:lpstr>Value Functions (V,Q)</vt:lpstr>
      <vt:lpstr>Value Functions (V,Q)</vt:lpstr>
      <vt:lpstr>PowerPoint 프레젠테이션</vt:lpstr>
      <vt:lpstr>Planning</vt:lpstr>
      <vt:lpstr>실습</vt:lpstr>
      <vt:lpstr>Reinforcement Learning (Value based)</vt:lpstr>
      <vt:lpstr>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윤도균</dc:creator>
  <cp:lastModifiedBy>윤 도균</cp:lastModifiedBy>
  <cp:revision>8</cp:revision>
  <dcterms:created xsi:type="dcterms:W3CDTF">2018-07-26T10:27:02Z</dcterms:created>
  <dcterms:modified xsi:type="dcterms:W3CDTF">2018-07-30T03:57:18Z</dcterms:modified>
</cp:coreProperties>
</file>