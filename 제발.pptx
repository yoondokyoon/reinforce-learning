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sldIdLst>
    <p:sldId id="256" r:id="rId2"/>
    <p:sldId id="277" r:id="rId3"/>
    <p:sldId id="260" r:id="rId4"/>
    <p:sldId id="261" r:id="rId5"/>
    <p:sldId id="259" r:id="rId6"/>
    <p:sldId id="263" r:id="rId7"/>
    <p:sldId id="274" r:id="rId8"/>
    <p:sldId id="264" r:id="rId9"/>
    <p:sldId id="265" r:id="rId10"/>
    <p:sldId id="271" r:id="rId11"/>
    <p:sldId id="257" r:id="rId12"/>
    <p:sldId id="272" r:id="rId13"/>
    <p:sldId id="273" r:id="rId14"/>
    <p:sldId id="276" r:id="rId15"/>
    <p:sldId id="275" r:id="rId16"/>
    <p:sldId id="289" r:id="rId17"/>
    <p:sldId id="290" r:id="rId18"/>
    <p:sldId id="291" r:id="rId19"/>
    <p:sldId id="278" r:id="rId20"/>
    <p:sldId id="284" r:id="rId21"/>
    <p:sldId id="286" r:id="rId22"/>
    <p:sldId id="287" r:id="rId23"/>
    <p:sldId id="279" r:id="rId24"/>
    <p:sldId id="280" r:id="rId25"/>
    <p:sldId id="281" r:id="rId26"/>
    <p:sldId id="282" r:id="rId27"/>
    <p:sldId id="283" r:id="rId28"/>
    <p:sldId id="285" r:id="rId29"/>
    <p:sldId id="288" r:id="rId30"/>
    <p:sldId id="266" r:id="rId31"/>
    <p:sldId id="270" r:id="rId32"/>
    <p:sldId id="267" r:id="rId33"/>
    <p:sldId id="26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649" autoAdjust="0"/>
  </p:normalViewPr>
  <p:slideViewPr>
    <p:cSldViewPr snapToGrid="0">
      <p:cViewPr varScale="1">
        <p:scale>
          <a:sx n="61" d="100"/>
          <a:sy n="61" d="100"/>
        </p:scale>
        <p:origin x="7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75675E-2307-45A9-93ED-84F6A628E639}" type="doc">
      <dgm:prSet loTypeId="urn:microsoft.com/office/officeart/2008/layout/LinedList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1E3E151-8569-488C-8C93-82294580D0DB}">
      <dgm:prSet/>
      <dgm:spPr/>
      <dgm:t>
        <a:bodyPr/>
        <a:lstStyle/>
        <a:p>
          <a:r>
            <a:rPr lang="en-US"/>
            <a:t>LFD,</a:t>
          </a:r>
          <a:r>
            <a:rPr lang="ko-KR"/>
            <a:t> </a:t>
          </a:r>
          <a:r>
            <a:rPr lang="en-US"/>
            <a:t>SVD+R,</a:t>
          </a:r>
          <a:r>
            <a:rPr lang="ko-KR"/>
            <a:t> </a:t>
          </a:r>
          <a:r>
            <a:rPr lang="en-US"/>
            <a:t>RPr  </a:t>
          </a:r>
          <a:r>
            <a:rPr lang="ko-KR"/>
            <a:t>비교 </a:t>
          </a:r>
          <a:endParaRPr lang="en-US"/>
        </a:p>
      </dgm:t>
    </dgm:pt>
    <dgm:pt modelId="{C572BD30-54D3-465D-A1F8-B31A378A60E9}" type="parTrans" cxnId="{5D9AC09F-15FD-4718-A9F5-D504C1B09971}">
      <dgm:prSet/>
      <dgm:spPr/>
      <dgm:t>
        <a:bodyPr/>
        <a:lstStyle/>
        <a:p>
          <a:endParaRPr lang="en-US"/>
        </a:p>
      </dgm:t>
    </dgm:pt>
    <dgm:pt modelId="{47A35970-3A72-40FD-9E14-2EA6A330F703}" type="sibTrans" cxnId="{5D9AC09F-15FD-4718-A9F5-D504C1B09971}">
      <dgm:prSet/>
      <dgm:spPr/>
      <dgm:t>
        <a:bodyPr/>
        <a:lstStyle/>
        <a:p>
          <a:endParaRPr lang="en-US"/>
        </a:p>
      </dgm:t>
    </dgm:pt>
    <dgm:pt modelId="{7D8B7309-E428-4FAA-9832-05E209EB80A7}">
      <dgm:prSet/>
      <dgm:spPr/>
      <dgm:t>
        <a:bodyPr/>
        <a:lstStyle/>
        <a:p>
          <a:r>
            <a:rPr lang="en-US"/>
            <a:t>k = 50 features</a:t>
          </a:r>
        </a:p>
      </dgm:t>
    </dgm:pt>
    <dgm:pt modelId="{ED1BF0DD-9D54-48C0-926E-22C6D12EDF14}" type="parTrans" cxnId="{85D90AFF-D3E0-44CF-BAF0-FC0DB6FDF863}">
      <dgm:prSet/>
      <dgm:spPr/>
      <dgm:t>
        <a:bodyPr/>
        <a:lstStyle/>
        <a:p>
          <a:endParaRPr lang="en-US"/>
        </a:p>
      </dgm:t>
    </dgm:pt>
    <dgm:pt modelId="{CE2F298A-9AB8-4FD9-8F7D-A95A4433019D}" type="sibTrans" cxnId="{85D90AFF-D3E0-44CF-BAF0-FC0DB6FDF863}">
      <dgm:prSet/>
      <dgm:spPr/>
      <dgm:t>
        <a:bodyPr/>
        <a:lstStyle/>
        <a:p>
          <a:endParaRPr lang="en-US"/>
        </a:p>
      </dgm:t>
    </dgm:pt>
    <dgm:pt modelId="{B52C1A0C-AE14-4F1F-88D7-39663320C601}">
      <dgm:prSet/>
      <dgm:spPr/>
      <dgm:t>
        <a:bodyPr/>
        <a:lstStyle/>
        <a:p>
          <a:r>
            <a:rPr lang="en-US"/>
            <a:t>[50, 100, 200, 400, 600 episode]</a:t>
          </a:r>
        </a:p>
      </dgm:t>
    </dgm:pt>
    <dgm:pt modelId="{AF19E339-BDF1-4B80-B57B-2B1DDBE06862}" type="parTrans" cxnId="{BFD54874-48C8-42A7-BC99-07B9EEC842CD}">
      <dgm:prSet/>
      <dgm:spPr/>
      <dgm:t>
        <a:bodyPr/>
        <a:lstStyle/>
        <a:p>
          <a:endParaRPr lang="en-US"/>
        </a:p>
      </dgm:t>
    </dgm:pt>
    <dgm:pt modelId="{8D2CDD93-CA2C-46DC-83B6-10CC5E435008}" type="sibTrans" cxnId="{BFD54874-48C8-42A7-BC99-07B9EEC842CD}">
      <dgm:prSet/>
      <dgm:spPr/>
      <dgm:t>
        <a:bodyPr/>
        <a:lstStyle/>
        <a:p>
          <a:endParaRPr lang="en-US"/>
        </a:p>
      </dgm:t>
    </dgm:pt>
    <dgm:pt modelId="{75554412-14DD-4A11-9555-41E752D4B6A7}">
      <dgm:prSet/>
      <dgm:spPr/>
      <dgm:t>
        <a:bodyPr/>
        <a:lstStyle/>
        <a:p>
          <a:r>
            <a:rPr lang="ko-KR"/>
            <a:t>큰</a:t>
          </a:r>
          <a:r>
            <a:rPr lang="en-US"/>
            <a:t> </a:t>
          </a:r>
          <a:r>
            <a:rPr lang="ko-KR"/>
            <a:t>데이터셋에서는 </a:t>
          </a:r>
          <a:r>
            <a:rPr lang="en-US"/>
            <a:t>LFD</a:t>
          </a:r>
          <a:r>
            <a:rPr lang="ko-KR"/>
            <a:t>와 </a:t>
          </a:r>
          <a:r>
            <a:rPr lang="en-US"/>
            <a:t>SVD+R</a:t>
          </a:r>
          <a:r>
            <a:rPr lang="ko-KR"/>
            <a:t>의 성능이 비슷했다</a:t>
          </a:r>
          <a:r>
            <a:rPr lang="en-US"/>
            <a:t>. </a:t>
          </a:r>
        </a:p>
      </dgm:t>
    </dgm:pt>
    <dgm:pt modelId="{0ED7CD74-EE2C-4BAD-ABC5-6B7EB8340F89}" type="parTrans" cxnId="{3D68443D-4B98-438F-9DC7-E5963CE06787}">
      <dgm:prSet/>
      <dgm:spPr/>
      <dgm:t>
        <a:bodyPr/>
        <a:lstStyle/>
        <a:p>
          <a:endParaRPr lang="en-US"/>
        </a:p>
      </dgm:t>
    </dgm:pt>
    <dgm:pt modelId="{88088B9F-5711-40E1-9198-A81B535AFAEE}" type="sibTrans" cxnId="{3D68443D-4B98-438F-9DC7-E5963CE06787}">
      <dgm:prSet/>
      <dgm:spPr/>
      <dgm:t>
        <a:bodyPr/>
        <a:lstStyle/>
        <a:p>
          <a:endParaRPr lang="en-US"/>
        </a:p>
      </dgm:t>
    </dgm:pt>
    <dgm:pt modelId="{BCDEF4C2-6803-4EF8-B5B0-883073D629C2}" type="pres">
      <dgm:prSet presAssocID="{5275675E-2307-45A9-93ED-84F6A628E639}" presName="vert0" presStyleCnt="0">
        <dgm:presLayoutVars>
          <dgm:dir/>
          <dgm:animOne val="branch"/>
          <dgm:animLvl val="lvl"/>
        </dgm:presLayoutVars>
      </dgm:prSet>
      <dgm:spPr/>
    </dgm:pt>
    <dgm:pt modelId="{2DC8A222-65B6-4C7B-A822-E729A8F306E1}" type="pres">
      <dgm:prSet presAssocID="{21E3E151-8569-488C-8C93-82294580D0DB}" presName="thickLine" presStyleLbl="alignNode1" presStyleIdx="0" presStyleCnt="4"/>
      <dgm:spPr/>
    </dgm:pt>
    <dgm:pt modelId="{EBE60530-3E15-4BE6-B399-C553DC99F234}" type="pres">
      <dgm:prSet presAssocID="{21E3E151-8569-488C-8C93-82294580D0DB}" presName="horz1" presStyleCnt="0"/>
      <dgm:spPr/>
    </dgm:pt>
    <dgm:pt modelId="{7E2220B0-11D0-4413-82E3-A15797ECCBB4}" type="pres">
      <dgm:prSet presAssocID="{21E3E151-8569-488C-8C93-82294580D0DB}" presName="tx1" presStyleLbl="revTx" presStyleIdx="0" presStyleCnt="4"/>
      <dgm:spPr/>
    </dgm:pt>
    <dgm:pt modelId="{73DF41BB-9AF9-4826-A835-F356F42602DD}" type="pres">
      <dgm:prSet presAssocID="{21E3E151-8569-488C-8C93-82294580D0DB}" presName="vert1" presStyleCnt="0"/>
      <dgm:spPr/>
    </dgm:pt>
    <dgm:pt modelId="{53915600-1BF1-4BD4-806A-E9A357D0B003}" type="pres">
      <dgm:prSet presAssocID="{7D8B7309-E428-4FAA-9832-05E209EB80A7}" presName="thickLine" presStyleLbl="alignNode1" presStyleIdx="1" presStyleCnt="4"/>
      <dgm:spPr/>
    </dgm:pt>
    <dgm:pt modelId="{08FBB9BC-3F88-400B-8B01-63E75788BF5E}" type="pres">
      <dgm:prSet presAssocID="{7D8B7309-E428-4FAA-9832-05E209EB80A7}" presName="horz1" presStyleCnt="0"/>
      <dgm:spPr/>
    </dgm:pt>
    <dgm:pt modelId="{0520B1F0-4B09-47DA-B560-CACD75D23164}" type="pres">
      <dgm:prSet presAssocID="{7D8B7309-E428-4FAA-9832-05E209EB80A7}" presName="tx1" presStyleLbl="revTx" presStyleIdx="1" presStyleCnt="4"/>
      <dgm:spPr/>
    </dgm:pt>
    <dgm:pt modelId="{C5BBB335-C8F3-44F6-8611-75568C702420}" type="pres">
      <dgm:prSet presAssocID="{7D8B7309-E428-4FAA-9832-05E209EB80A7}" presName="vert1" presStyleCnt="0"/>
      <dgm:spPr/>
    </dgm:pt>
    <dgm:pt modelId="{37F5E29B-824C-4A43-8FAB-BD9417AC633F}" type="pres">
      <dgm:prSet presAssocID="{B52C1A0C-AE14-4F1F-88D7-39663320C601}" presName="thickLine" presStyleLbl="alignNode1" presStyleIdx="2" presStyleCnt="4"/>
      <dgm:spPr/>
    </dgm:pt>
    <dgm:pt modelId="{B823CEAF-B5F3-49BC-B11D-21B4C7F070F3}" type="pres">
      <dgm:prSet presAssocID="{B52C1A0C-AE14-4F1F-88D7-39663320C601}" presName="horz1" presStyleCnt="0"/>
      <dgm:spPr/>
    </dgm:pt>
    <dgm:pt modelId="{3D0DD47B-6478-4D6E-BED1-6DF7BD72E356}" type="pres">
      <dgm:prSet presAssocID="{B52C1A0C-AE14-4F1F-88D7-39663320C601}" presName="tx1" presStyleLbl="revTx" presStyleIdx="2" presStyleCnt="4"/>
      <dgm:spPr/>
    </dgm:pt>
    <dgm:pt modelId="{5574B80C-3306-4B4D-9E90-97FB38DC000E}" type="pres">
      <dgm:prSet presAssocID="{B52C1A0C-AE14-4F1F-88D7-39663320C601}" presName="vert1" presStyleCnt="0"/>
      <dgm:spPr/>
    </dgm:pt>
    <dgm:pt modelId="{6B4F718F-D5D2-4247-B338-30B1A8227E45}" type="pres">
      <dgm:prSet presAssocID="{75554412-14DD-4A11-9555-41E752D4B6A7}" presName="thickLine" presStyleLbl="alignNode1" presStyleIdx="3" presStyleCnt="4"/>
      <dgm:spPr/>
    </dgm:pt>
    <dgm:pt modelId="{C506C725-227A-4118-9F61-A4DB50524E60}" type="pres">
      <dgm:prSet presAssocID="{75554412-14DD-4A11-9555-41E752D4B6A7}" presName="horz1" presStyleCnt="0"/>
      <dgm:spPr/>
    </dgm:pt>
    <dgm:pt modelId="{D56FF268-5DF9-448D-8F27-552110680CF5}" type="pres">
      <dgm:prSet presAssocID="{75554412-14DD-4A11-9555-41E752D4B6A7}" presName="tx1" presStyleLbl="revTx" presStyleIdx="3" presStyleCnt="4"/>
      <dgm:spPr/>
    </dgm:pt>
    <dgm:pt modelId="{5FDBDA56-AC28-47CD-AB5D-7124432FC494}" type="pres">
      <dgm:prSet presAssocID="{75554412-14DD-4A11-9555-41E752D4B6A7}" presName="vert1" presStyleCnt="0"/>
      <dgm:spPr/>
    </dgm:pt>
  </dgm:ptLst>
  <dgm:cxnLst>
    <dgm:cxn modelId="{F309B231-2A49-4EE2-ACA7-FA39578FCD7E}" type="presOf" srcId="{75554412-14DD-4A11-9555-41E752D4B6A7}" destId="{D56FF268-5DF9-448D-8F27-552110680CF5}" srcOrd="0" destOrd="0" presId="urn:microsoft.com/office/officeart/2008/layout/LinedList"/>
    <dgm:cxn modelId="{DBD0C03A-5CA7-4401-822B-E316CF63528D}" type="presOf" srcId="{7D8B7309-E428-4FAA-9832-05E209EB80A7}" destId="{0520B1F0-4B09-47DA-B560-CACD75D23164}" srcOrd="0" destOrd="0" presId="urn:microsoft.com/office/officeart/2008/layout/LinedList"/>
    <dgm:cxn modelId="{3D68443D-4B98-438F-9DC7-E5963CE06787}" srcId="{5275675E-2307-45A9-93ED-84F6A628E639}" destId="{75554412-14DD-4A11-9555-41E752D4B6A7}" srcOrd="3" destOrd="0" parTransId="{0ED7CD74-EE2C-4BAD-ABC5-6B7EB8340F89}" sibTransId="{88088B9F-5711-40E1-9198-A81B535AFAEE}"/>
    <dgm:cxn modelId="{B6A65664-4DEE-43AB-98D4-85A05E9AB565}" type="presOf" srcId="{5275675E-2307-45A9-93ED-84F6A628E639}" destId="{BCDEF4C2-6803-4EF8-B5B0-883073D629C2}" srcOrd="0" destOrd="0" presId="urn:microsoft.com/office/officeart/2008/layout/LinedList"/>
    <dgm:cxn modelId="{BFD54874-48C8-42A7-BC99-07B9EEC842CD}" srcId="{5275675E-2307-45A9-93ED-84F6A628E639}" destId="{B52C1A0C-AE14-4F1F-88D7-39663320C601}" srcOrd="2" destOrd="0" parTransId="{AF19E339-BDF1-4B80-B57B-2B1DDBE06862}" sibTransId="{8D2CDD93-CA2C-46DC-83B6-10CC5E435008}"/>
    <dgm:cxn modelId="{5D9AC09F-15FD-4718-A9F5-D504C1B09971}" srcId="{5275675E-2307-45A9-93ED-84F6A628E639}" destId="{21E3E151-8569-488C-8C93-82294580D0DB}" srcOrd="0" destOrd="0" parTransId="{C572BD30-54D3-465D-A1F8-B31A378A60E9}" sibTransId="{47A35970-3A72-40FD-9E14-2EA6A330F703}"/>
    <dgm:cxn modelId="{24A1ADBB-59A9-4790-A972-6F587A9E0966}" type="presOf" srcId="{21E3E151-8569-488C-8C93-82294580D0DB}" destId="{7E2220B0-11D0-4413-82E3-A15797ECCBB4}" srcOrd="0" destOrd="0" presId="urn:microsoft.com/office/officeart/2008/layout/LinedList"/>
    <dgm:cxn modelId="{FEE541BC-CBA5-4FDE-8373-56E10C216417}" type="presOf" srcId="{B52C1A0C-AE14-4F1F-88D7-39663320C601}" destId="{3D0DD47B-6478-4D6E-BED1-6DF7BD72E356}" srcOrd="0" destOrd="0" presId="urn:microsoft.com/office/officeart/2008/layout/LinedList"/>
    <dgm:cxn modelId="{85D90AFF-D3E0-44CF-BAF0-FC0DB6FDF863}" srcId="{5275675E-2307-45A9-93ED-84F6A628E639}" destId="{7D8B7309-E428-4FAA-9832-05E209EB80A7}" srcOrd="1" destOrd="0" parTransId="{ED1BF0DD-9D54-48C0-926E-22C6D12EDF14}" sibTransId="{CE2F298A-9AB8-4FD9-8F7D-A95A4433019D}"/>
    <dgm:cxn modelId="{4A9D6E20-7303-43E5-97E2-B681EEFEF343}" type="presParOf" srcId="{BCDEF4C2-6803-4EF8-B5B0-883073D629C2}" destId="{2DC8A222-65B6-4C7B-A822-E729A8F306E1}" srcOrd="0" destOrd="0" presId="urn:microsoft.com/office/officeart/2008/layout/LinedList"/>
    <dgm:cxn modelId="{22AB4E83-6D40-48CD-AECF-DA4A0840A4DC}" type="presParOf" srcId="{BCDEF4C2-6803-4EF8-B5B0-883073D629C2}" destId="{EBE60530-3E15-4BE6-B399-C553DC99F234}" srcOrd="1" destOrd="0" presId="urn:microsoft.com/office/officeart/2008/layout/LinedList"/>
    <dgm:cxn modelId="{91B27074-123B-45DF-8804-B7C41F53164E}" type="presParOf" srcId="{EBE60530-3E15-4BE6-B399-C553DC99F234}" destId="{7E2220B0-11D0-4413-82E3-A15797ECCBB4}" srcOrd="0" destOrd="0" presId="urn:microsoft.com/office/officeart/2008/layout/LinedList"/>
    <dgm:cxn modelId="{AFDA782E-2DD4-439B-AF35-B82476723A02}" type="presParOf" srcId="{EBE60530-3E15-4BE6-B399-C553DC99F234}" destId="{73DF41BB-9AF9-4826-A835-F356F42602DD}" srcOrd="1" destOrd="0" presId="urn:microsoft.com/office/officeart/2008/layout/LinedList"/>
    <dgm:cxn modelId="{7C3A450C-45C5-4D9A-84C0-224A413A4F27}" type="presParOf" srcId="{BCDEF4C2-6803-4EF8-B5B0-883073D629C2}" destId="{53915600-1BF1-4BD4-806A-E9A357D0B003}" srcOrd="2" destOrd="0" presId="urn:microsoft.com/office/officeart/2008/layout/LinedList"/>
    <dgm:cxn modelId="{A19BC5A2-BF8A-4762-A616-8828F5F4F775}" type="presParOf" srcId="{BCDEF4C2-6803-4EF8-B5B0-883073D629C2}" destId="{08FBB9BC-3F88-400B-8B01-63E75788BF5E}" srcOrd="3" destOrd="0" presId="urn:microsoft.com/office/officeart/2008/layout/LinedList"/>
    <dgm:cxn modelId="{E94FE496-7E3F-4371-BFCD-966EC3B0E317}" type="presParOf" srcId="{08FBB9BC-3F88-400B-8B01-63E75788BF5E}" destId="{0520B1F0-4B09-47DA-B560-CACD75D23164}" srcOrd="0" destOrd="0" presId="urn:microsoft.com/office/officeart/2008/layout/LinedList"/>
    <dgm:cxn modelId="{149AF49A-390B-486B-9738-B0D572B875E6}" type="presParOf" srcId="{08FBB9BC-3F88-400B-8B01-63E75788BF5E}" destId="{C5BBB335-C8F3-44F6-8611-75568C702420}" srcOrd="1" destOrd="0" presId="urn:microsoft.com/office/officeart/2008/layout/LinedList"/>
    <dgm:cxn modelId="{714A40D7-D329-452A-931B-BEE51A3248E1}" type="presParOf" srcId="{BCDEF4C2-6803-4EF8-B5B0-883073D629C2}" destId="{37F5E29B-824C-4A43-8FAB-BD9417AC633F}" srcOrd="4" destOrd="0" presId="urn:microsoft.com/office/officeart/2008/layout/LinedList"/>
    <dgm:cxn modelId="{8725A7CD-F7C4-416B-8976-98C1FE740C1B}" type="presParOf" srcId="{BCDEF4C2-6803-4EF8-B5B0-883073D629C2}" destId="{B823CEAF-B5F3-49BC-B11D-21B4C7F070F3}" srcOrd="5" destOrd="0" presId="urn:microsoft.com/office/officeart/2008/layout/LinedList"/>
    <dgm:cxn modelId="{4BEBA111-32EB-44B0-BE5F-952822763182}" type="presParOf" srcId="{B823CEAF-B5F3-49BC-B11D-21B4C7F070F3}" destId="{3D0DD47B-6478-4D6E-BED1-6DF7BD72E356}" srcOrd="0" destOrd="0" presId="urn:microsoft.com/office/officeart/2008/layout/LinedList"/>
    <dgm:cxn modelId="{5F19F15B-E7CC-4276-94D9-55D0AEBA06AD}" type="presParOf" srcId="{B823CEAF-B5F3-49BC-B11D-21B4C7F070F3}" destId="{5574B80C-3306-4B4D-9E90-97FB38DC000E}" srcOrd="1" destOrd="0" presId="urn:microsoft.com/office/officeart/2008/layout/LinedList"/>
    <dgm:cxn modelId="{13E06D18-8756-402B-AC10-D8E178F7262C}" type="presParOf" srcId="{BCDEF4C2-6803-4EF8-B5B0-883073D629C2}" destId="{6B4F718F-D5D2-4247-B338-30B1A8227E45}" srcOrd="6" destOrd="0" presId="urn:microsoft.com/office/officeart/2008/layout/LinedList"/>
    <dgm:cxn modelId="{6EE15085-7AAC-45F8-8BDE-18099B62B8CE}" type="presParOf" srcId="{BCDEF4C2-6803-4EF8-B5B0-883073D629C2}" destId="{C506C725-227A-4118-9F61-A4DB50524E60}" srcOrd="7" destOrd="0" presId="urn:microsoft.com/office/officeart/2008/layout/LinedList"/>
    <dgm:cxn modelId="{6ABDCC97-6A66-4DB6-8566-0E56F2444CFD}" type="presParOf" srcId="{C506C725-227A-4118-9F61-A4DB50524E60}" destId="{D56FF268-5DF9-448D-8F27-552110680CF5}" srcOrd="0" destOrd="0" presId="urn:microsoft.com/office/officeart/2008/layout/LinedList"/>
    <dgm:cxn modelId="{41EFE5F5-5BAE-4E33-B60C-BC158E7E2560}" type="presParOf" srcId="{C506C725-227A-4118-9F61-A4DB50524E60}" destId="{5FDBDA56-AC28-47CD-AB5D-7124432FC4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8A222-65B6-4C7B-A822-E729A8F306E1}">
      <dsp:nvSpPr>
        <dsp:cNvPr id="0" name=""/>
        <dsp:cNvSpPr/>
      </dsp:nvSpPr>
      <dsp:spPr>
        <a:xfrm>
          <a:off x="0" y="0"/>
          <a:ext cx="6066818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E2220B0-11D0-4413-82E3-A15797ECCBB4}">
      <dsp:nvSpPr>
        <dsp:cNvPr id="0" name=""/>
        <dsp:cNvSpPr/>
      </dsp:nvSpPr>
      <dsp:spPr>
        <a:xfrm>
          <a:off x="0" y="0"/>
          <a:ext cx="6066818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LFD,</a:t>
          </a:r>
          <a:r>
            <a:rPr lang="ko-KR" sz="2900" kern="1200"/>
            <a:t> </a:t>
          </a:r>
          <a:r>
            <a:rPr lang="en-US" sz="2900" kern="1200"/>
            <a:t>SVD+R,</a:t>
          </a:r>
          <a:r>
            <a:rPr lang="ko-KR" sz="2900" kern="1200"/>
            <a:t> </a:t>
          </a:r>
          <a:r>
            <a:rPr lang="en-US" sz="2900" kern="1200"/>
            <a:t>RPr  </a:t>
          </a:r>
          <a:r>
            <a:rPr lang="ko-KR" sz="2900" kern="1200"/>
            <a:t>비교 </a:t>
          </a:r>
          <a:endParaRPr lang="en-US" sz="2900" kern="1200"/>
        </a:p>
      </dsp:txBody>
      <dsp:txXfrm>
        <a:off x="0" y="0"/>
        <a:ext cx="6066818" cy="1005840"/>
      </dsp:txXfrm>
    </dsp:sp>
    <dsp:sp modelId="{53915600-1BF1-4BD4-806A-E9A357D0B003}">
      <dsp:nvSpPr>
        <dsp:cNvPr id="0" name=""/>
        <dsp:cNvSpPr/>
      </dsp:nvSpPr>
      <dsp:spPr>
        <a:xfrm>
          <a:off x="0" y="1005840"/>
          <a:ext cx="6066818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520B1F0-4B09-47DA-B560-CACD75D23164}">
      <dsp:nvSpPr>
        <dsp:cNvPr id="0" name=""/>
        <dsp:cNvSpPr/>
      </dsp:nvSpPr>
      <dsp:spPr>
        <a:xfrm>
          <a:off x="0" y="1005840"/>
          <a:ext cx="6066818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 = 50 features</a:t>
          </a:r>
        </a:p>
      </dsp:txBody>
      <dsp:txXfrm>
        <a:off x="0" y="1005840"/>
        <a:ext cx="6066818" cy="1005840"/>
      </dsp:txXfrm>
    </dsp:sp>
    <dsp:sp modelId="{37F5E29B-824C-4A43-8FAB-BD9417AC633F}">
      <dsp:nvSpPr>
        <dsp:cNvPr id="0" name=""/>
        <dsp:cNvSpPr/>
      </dsp:nvSpPr>
      <dsp:spPr>
        <a:xfrm>
          <a:off x="0" y="2011680"/>
          <a:ext cx="6066818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D0DD47B-6478-4D6E-BED1-6DF7BD72E356}">
      <dsp:nvSpPr>
        <dsp:cNvPr id="0" name=""/>
        <dsp:cNvSpPr/>
      </dsp:nvSpPr>
      <dsp:spPr>
        <a:xfrm>
          <a:off x="0" y="2011680"/>
          <a:ext cx="6066818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[50, 100, 200, 400, 600 episode]</a:t>
          </a:r>
        </a:p>
      </dsp:txBody>
      <dsp:txXfrm>
        <a:off x="0" y="2011680"/>
        <a:ext cx="6066818" cy="1005840"/>
      </dsp:txXfrm>
    </dsp:sp>
    <dsp:sp modelId="{6B4F718F-D5D2-4247-B338-30B1A8227E45}">
      <dsp:nvSpPr>
        <dsp:cNvPr id="0" name=""/>
        <dsp:cNvSpPr/>
      </dsp:nvSpPr>
      <dsp:spPr>
        <a:xfrm>
          <a:off x="0" y="3017520"/>
          <a:ext cx="6066818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56FF268-5DF9-448D-8F27-552110680CF5}">
      <dsp:nvSpPr>
        <dsp:cNvPr id="0" name=""/>
        <dsp:cNvSpPr/>
      </dsp:nvSpPr>
      <dsp:spPr>
        <a:xfrm>
          <a:off x="0" y="3017520"/>
          <a:ext cx="6066818" cy="100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900" kern="1200"/>
            <a:t>큰</a:t>
          </a:r>
          <a:r>
            <a:rPr lang="en-US" sz="2900" kern="1200"/>
            <a:t> </a:t>
          </a:r>
          <a:r>
            <a:rPr lang="ko-KR" sz="2900" kern="1200"/>
            <a:t>데이터셋에서는 </a:t>
          </a:r>
          <a:r>
            <a:rPr lang="en-US" sz="2900" kern="1200"/>
            <a:t>LFD</a:t>
          </a:r>
          <a:r>
            <a:rPr lang="ko-KR" sz="2900" kern="1200"/>
            <a:t>와 </a:t>
          </a:r>
          <a:r>
            <a:rPr lang="en-US" sz="2900" kern="1200"/>
            <a:t>SVD+R</a:t>
          </a:r>
          <a:r>
            <a:rPr lang="ko-KR" sz="2900" kern="1200"/>
            <a:t>의 성능이 비슷했다</a:t>
          </a:r>
          <a:r>
            <a:rPr lang="en-US" sz="2900" kern="1200"/>
            <a:t>. </a:t>
          </a:r>
        </a:p>
      </dsp:txBody>
      <dsp:txXfrm>
        <a:off x="0" y="3017520"/>
        <a:ext cx="6066818" cy="1005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629A7-25CB-4E92-851E-5E03F70DC014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3D33A-FAB7-4F13-9340-B94EB4E55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846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강화학습의 </a:t>
            </a:r>
            <a:r>
              <a:rPr lang="en-US" altLang="ko-KR" dirty="0"/>
              <a:t>feature engineering </a:t>
            </a:r>
            <a:r>
              <a:rPr lang="ko-KR" altLang="en-US" dirty="0"/>
              <a:t>같은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3D33A-FAB7-4F13-9340-B94EB4E556D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422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3D33A-FAB7-4F13-9340-B94EB4E556D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513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</a:t>
            </a:r>
            <a:br>
              <a:rPr lang="ko-KR" altLang="en-US" dirty="0"/>
            </a:b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형상 선택과 관련된 선형 값 함수 근사치 및 특성의 일반적인 구조를 설명한다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새로운 형상 시공 방법을 설명하고 근사치를 분석한다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ko-KR" altLang="en-US" dirty="0"/>
            </a:b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 다음 섹션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다른 기능 구성 알고리즘과의 연결을 설명하고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섹션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에서는 가장 효율적인 방법을 경험적으로 비교합니다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3D33A-FAB7-4F13-9340-B94EB4E556D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017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F3D33A-FAB7-4F13-9340-B94EB4E556D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37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7016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661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72505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981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8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28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84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768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60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56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91F7753-AA71-4877-8AF7-4AF2F377FED6}" type="datetimeFigureOut">
              <a:rPr lang="ko-KR" altLang="en-US" smtClean="0"/>
              <a:t>2018-09-21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6496297-EA11-4B1A-A175-1E549BE0A80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5641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462CC-F494-41BA-A89C-BB56035B3A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lang="en-US" altLang="ko-KR" dirty="0"/>
              <a:t>Engineering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 </a:t>
            </a:r>
            <a:r>
              <a:rPr lang="en-US" altLang="ko-KR" dirty="0"/>
              <a:t>Predictive</a:t>
            </a:r>
            <a:r>
              <a:rPr lang="ko-KR" altLang="en-US" dirty="0"/>
              <a:t> </a:t>
            </a:r>
            <a:r>
              <a:rPr lang="en-US" altLang="ko-KR" dirty="0"/>
              <a:t>Modeling</a:t>
            </a:r>
            <a:r>
              <a:rPr lang="ko-KR" altLang="en-US" dirty="0"/>
              <a:t> </a:t>
            </a:r>
            <a:r>
              <a:rPr lang="en-US" altLang="ko-KR" dirty="0"/>
              <a:t>using Reinforcement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D405E7-0758-4763-9377-8C83A323DA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IBM Watson Research Center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0017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A98787-5903-4274-B31C-29FF082A3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NAsNet</a:t>
            </a:r>
            <a:r>
              <a:rPr lang="en-US" altLang="ko-KR" dirty="0"/>
              <a:t>. </a:t>
            </a:r>
            <a:r>
              <a:rPr lang="ko-KR" altLang="en-US" dirty="0"/>
              <a:t>모델이 모델을 만들기 시작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6CEADE-37CD-4586-A835-DB356AE6B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FFFF00"/>
                </a:solidFill>
              </a:rPr>
              <a:t>강화학습</a:t>
            </a:r>
            <a:r>
              <a:rPr lang="ko-KR" altLang="en-US" dirty="0"/>
              <a:t>을 이용하여 학습 모델 설계를 자동화</a:t>
            </a:r>
            <a:endParaRPr lang="en-US" altLang="ko-KR" dirty="0"/>
          </a:p>
          <a:p>
            <a:r>
              <a:rPr lang="ko-KR" altLang="en-US" dirty="0"/>
              <a:t>그 결과</a:t>
            </a:r>
            <a:r>
              <a:rPr lang="en-US" altLang="ko-KR" dirty="0"/>
              <a:t>, </a:t>
            </a:r>
            <a:r>
              <a:rPr lang="en-US" altLang="ko-KR" dirty="0" err="1">
                <a:solidFill>
                  <a:srgbClr val="FFFF00"/>
                </a:solidFill>
              </a:rPr>
              <a:t>AutoML</a:t>
            </a:r>
            <a:r>
              <a:rPr lang="ko-KR" altLang="en-US" dirty="0"/>
              <a:t>은 컨트롤러 신경 네트워크로 작동하며 특정한 업무를 위해 또 다른 인공지능 네트워크를 </a:t>
            </a:r>
            <a:r>
              <a:rPr lang="ko-KR" altLang="en-US" dirty="0" err="1"/>
              <a:t>만듬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 전 세계에서 가장 큰 이미지 데이타베이스를 보유한 이미지넷에서 </a:t>
            </a:r>
            <a:r>
              <a:rPr lang="en-US" altLang="ko-KR" dirty="0" err="1">
                <a:solidFill>
                  <a:srgbClr val="FFFF00"/>
                </a:solidFill>
              </a:rPr>
              <a:t>NASNet</a:t>
            </a:r>
            <a:r>
              <a:rPr lang="ko-KR" altLang="en-US" dirty="0"/>
              <a:t>는 사물을 예측하는 데 기존의 컴퓨터 시각 시스템보다 </a:t>
            </a:r>
            <a:r>
              <a:rPr lang="en-US" altLang="ko-KR" dirty="0"/>
              <a:t>1.2% </a:t>
            </a:r>
            <a:r>
              <a:rPr lang="ko-KR" altLang="en-US" dirty="0"/>
              <a:t>더 높은 </a:t>
            </a:r>
            <a:r>
              <a:rPr lang="en-US" altLang="ko-KR" dirty="0"/>
              <a:t>82.7%</a:t>
            </a:r>
            <a:r>
              <a:rPr lang="ko-KR" altLang="en-US" dirty="0"/>
              <a:t>의 정확도를 보였고</a:t>
            </a:r>
            <a:r>
              <a:rPr lang="en-US" altLang="ko-KR" dirty="0"/>
              <a:t>, </a:t>
            </a:r>
            <a:r>
              <a:rPr lang="ko-KR" altLang="en-US" dirty="0"/>
              <a:t>컴퓨터 시각 분야에서 사용되는 성능평가지표인 </a:t>
            </a:r>
            <a:r>
              <a:rPr lang="en-US" altLang="ko-KR" dirty="0" err="1"/>
              <a:t>mAP</a:t>
            </a:r>
            <a:r>
              <a:rPr lang="en-US" altLang="ko-KR" dirty="0"/>
              <a:t>(mean Average Precision)</a:t>
            </a:r>
            <a:r>
              <a:rPr lang="ko-KR" altLang="en-US" dirty="0"/>
              <a:t>에서도 기존보다 </a:t>
            </a:r>
            <a:r>
              <a:rPr lang="en-US" altLang="ko-KR" dirty="0"/>
              <a:t>4% </a:t>
            </a:r>
            <a:r>
              <a:rPr lang="ko-KR" altLang="en-US" dirty="0"/>
              <a:t>더 높은 </a:t>
            </a:r>
            <a:r>
              <a:rPr lang="en-US" altLang="ko-KR" dirty="0"/>
              <a:t>43.1%</a:t>
            </a:r>
            <a:r>
              <a:rPr lang="ko-KR" altLang="en-US" dirty="0"/>
              <a:t>의 효율성을 기록했다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F91BF9-C8B1-4226-BDFA-F705CBE275D7}"/>
              </a:ext>
            </a:extLst>
          </p:cNvPr>
          <p:cNvSpPr/>
          <p:nvPr/>
        </p:nvSpPr>
        <p:spPr>
          <a:xfrm>
            <a:off x="265025" y="4869376"/>
            <a:ext cx="1166194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당연히 </a:t>
            </a:r>
            <a:r>
              <a:rPr lang="en-US" altLang="ko-K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feature</a:t>
            </a:r>
            <a:r>
              <a:rPr lang="ko-KR" alt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altLang="ko-KR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engineering</a:t>
            </a:r>
            <a:r>
              <a:rPr lang="ko-KR" alt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도</a:t>
            </a:r>
            <a:r>
              <a:rPr lang="ko-KR" alt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자동화 하는 것이 나왔습니다</a:t>
            </a:r>
            <a:r>
              <a:rPr lang="en-US" altLang="ko-KR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260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96EDC-9BFD-4EE4-859D-BC34152ED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Engineer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183AD2-5BC1-4B65-B135-057771BC3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데이터를 모델에 넣을 </a:t>
            </a:r>
            <a:r>
              <a:rPr lang="en-US" altLang="ko-KR" dirty="0"/>
              <a:t>input</a:t>
            </a:r>
            <a:r>
              <a:rPr lang="ko-KR" altLang="en-US" dirty="0"/>
              <a:t>으로 변환하는 것</a:t>
            </a:r>
          </a:p>
        </p:txBody>
      </p:sp>
      <p:pic>
        <p:nvPicPr>
          <p:cNvPr id="4" name="Picture 2" descr="feature engineeringì ëí ì´ë¯¸ì§ ê²ìê²°ê³¼">
            <a:extLst>
              <a:ext uri="{FF2B5EF4-FFF2-40B4-BE49-F238E27FC236}">
                <a16:creationId xmlns:a16="http://schemas.microsoft.com/office/drawing/2014/main" id="{B6D50FEF-FF75-432D-9F26-C87DE1137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785" y="101447"/>
            <a:ext cx="8374139" cy="4396423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45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5576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4979EDA-62D2-4109-9EA5-8419C6A55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 altLang="ko-KR">
                <a:solidFill>
                  <a:srgbClr val="FFFFFF"/>
                </a:solidFill>
              </a:rPr>
              <a:t>Feature</a:t>
            </a:r>
            <a:r>
              <a:rPr lang="ko-KR" altLang="en-US">
                <a:solidFill>
                  <a:srgbClr val="FFFFFF"/>
                </a:solidFill>
              </a:rPr>
              <a:t> </a:t>
            </a:r>
            <a:r>
              <a:rPr lang="en-US" altLang="ko-KR">
                <a:solidFill>
                  <a:srgbClr val="FFFFFF"/>
                </a:solidFill>
              </a:rPr>
              <a:t>Engineering</a:t>
            </a:r>
            <a:endParaRPr lang="ko-KR" altLang="en-US">
              <a:solidFill>
                <a:srgbClr val="FFFFFF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AA44B9-C315-4C78-AFC1-ED8483E507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9" r="-1" b="-1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E9F6941-8A7C-40E9-A784-35E86D9A2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r>
              <a:rPr lang="ko-KR" altLang="en-US" dirty="0">
                <a:solidFill>
                  <a:srgbClr val="FFFFFF"/>
                </a:solidFill>
              </a:rPr>
              <a:t>논문에서 사용된 </a:t>
            </a:r>
            <a:r>
              <a:rPr lang="en-US" altLang="ko-KR" dirty="0">
                <a:solidFill>
                  <a:srgbClr val="FFFFFF"/>
                </a:solidFill>
              </a:rPr>
              <a:t>transformation function</a:t>
            </a:r>
          </a:p>
          <a:p>
            <a:r>
              <a:rPr lang="en-US" altLang="ko-KR" dirty="0">
                <a:solidFill>
                  <a:srgbClr val="FFFFFF"/>
                </a:solidFill>
              </a:rPr>
              <a:t>log, Square, Square root, Product, </a:t>
            </a:r>
            <a:r>
              <a:rPr lang="en-US" altLang="ko-KR" dirty="0" err="1">
                <a:solidFill>
                  <a:srgbClr val="FFFFFF"/>
                </a:solidFill>
              </a:rPr>
              <a:t>Zscore</a:t>
            </a:r>
            <a:r>
              <a:rPr lang="en-US" altLang="ko-KR" dirty="0">
                <a:solidFill>
                  <a:srgbClr val="FFFFFF"/>
                </a:solidFill>
              </a:rPr>
              <a:t>, Min-Max Normalization, </a:t>
            </a:r>
            <a:r>
              <a:rPr lang="en-US" altLang="ko-KR" dirty="0" err="1">
                <a:solidFill>
                  <a:srgbClr val="FFFFFF"/>
                </a:solidFill>
              </a:rPr>
              <a:t>TimeBinning</a:t>
            </a:r>
            <a:r>
              <a:rPr lang="en-US" altLang="ko-KR" dirty="0">
                <a:solidFill>
                  <a:srgbClr val="FFFFFF"/>
                </a:solidFill>
              </a:rPr>
              <a:t> Aggregation, Temporal window Aggregate, Spatial Aggregation, </a:t>
            </a:r>
            <a:r>
              <a:rPr lang="en-US" altLang="ko-KR" dirty="0" err="1">
                <a:solidFill>
                  <a:srgbClr val="FFFFFF"/>
                </a:solidFill>
              </a:rPr>
              <a:t>Spatio</a:t>
            </a:r>
            <a:r>
              <a:rPr lang="en-US" altLang="ko-KR" dirty="0">
                <a:solidFill>
                  <a:srgbClr val="FFFFFF"/>
                </a:solidFill>
              </a:rPr>
              <a:t> temporal aggregate, k-term frequency, Sum, difference, Division, Sigmoid, Binning U, Binning D,  </a:t>
            </a:r>
            <a:r>
              <a:rPr lang="en-US" altLang="ko-KR" dirty="0" err="1">
                <a:solidFill>
                  <a:srgbClr val="FFFFFF"/>
                </a:solidFill>
              </a:rPr>
              <a:t>Normial</a:t>
            </a:r>
            <a:r>
              <a:rPr lang="en-US" altLang="ko-KR" dirty="0">
                <a:solidFill>
                  <a:srgbClr val="FFFFFF"/>
                </a:solidFill>
              </a:rPr>
              <a:t> </a:t>
            </a:r>
            <a:r>
              <a:rPr lang="en-US" altLang="ko-KR" dirty="0" err="1">
                <a:solidFill>
                  <a:srgbClr val="FFFFFF"/>
                </a:solidFill>
              </a:rPr>
              <a:t>Expeansion</a:t>
            </a:r>
            <a:r>
              <a:rPr lang="en-US" altLang="ko-KR" dirty="0">
                <a:solidFill>
                  <a:srgbClr val="FFFFFF"/>
                </a:solidFill>
              </a:rPr>
              <a:t>, Sin, cos, </a:t>
            </a:r>
            <a:r>
              <a:rPr lang="en-US" altLang="ko-KR" dirty="0" err="1">
                <a:solidFill>
                  <a:srgbClr val="FFFFFF"/>
                </a:solidFill>
              </a:rPr>
              <a:t>TanH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480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314856-7A14-4F72-BC1C-2D0E447A3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1AD965A1-2161-4D92-8242-DD33017027D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7021" t="45533" r="51711" b="27405"/>
          <a:stretch/>
        </p:blipFill>
        <p:spPr>
          <a:xfrm>
            <a:off x="396537" y="615797"/>
            <a:ext cx="7816242" cy="559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98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314856-7A14-4F72-BC1C-2D0E447A3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1AD965A1-2161-4D92-8242-DD33017027D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7021" t="45533" r="51711" b="27405"/>
          <a:stretch/>
        </p:blipFill>
        <p:spPr>
          <a:xfrm>
            <a:off x="396537" y="615797"/>
            <a:ext cx="7816242" cy="5594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2D5EA0-C6A6-4F9D-9FC9-AC423D05C9F9}"/>
              </a:ext>
            </a:extLst>
          </p:cNvPr>
          <p:cNvSpPr txBox="1"/>
          <p:nvPr/>
        </p:nvSpPr>
        <p:spPr>
          <a:xfrm>
            <a:off x="739210" y="1610742"/>
            <a:ext cx="7130896" cy="452431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엔지니어링은 예측 모델을 만드는 데 중요한 과정입니다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엔지니어링은 주어진 타겟에 대한 모델링 에러를 줄이기 위해 수학적 함수를 이용하여 주어진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스페이스를 변형하는 것을 포함합니다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그러나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엔지니어링을 효과적으로 수행하는 방법이 없습니다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도메인 지식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직관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기나긴 시행착오가 필요한 분야입니다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이 논문은 자동화된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엔지니어링의 새로운 프레임워크를 제시합니다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주어진 옵션의 공간을 체계적이고 간결하게 열거하는 변형 그래프를 이용한 성능 중심의 탐험을 기반으로 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고도로 효율적인 탐험 전략은 과거 사례에 대한 강화학습을 통해 도출됩니다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297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314856-7A14-4F72-BC1C-2D0E447A3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1AD965A1-2161-4D92-8242-DD33017027D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7021" t="45533" r="51711" b="27405"/>
          <a:stretch/>
        </p:blipFill>
        <p:spPr>
          <a:xfrm>
            <a:off x="396537" y="615797"/>
            <a:ext cx="7816242" cy="5594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2D5EA0-C6A6-4F9D-9FC9-AC423D05C9F9}"/>
              </a:ext>
            </a:extLst>
          </p:cNvPr>
          <p:cNvSpPr txBox="1"/>
          <p:nvPr/>
        </p:nvSpPr>
        <p:spPr>
          <a:xfrm>
            <a:off x="739210" y="1610742"/>
            <a:ext cx="7130896" cy="452431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엔지니어링은 예측 모델을 만드는 데 중요한 과정입니다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엔지니어링은 주어진 타겟에 대한 모델링 에러를 줄이기 위해 수학적 함수를 이용하여 주어진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스페이스를 변형하는 것을 포함합니다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그러나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엔지니어링을 효과적으로 수행하는 방법이 없습니다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도메인 지식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직관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기나긴 시행착오가 필요한 분야입니다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b="1" u="sng" dirty="0">
                <a:solidFill>
                  <a:schemeClr val="bg1"/>
                </a:solidFill>
              </a:rPr>
              <a:t>이 논문은 자동화된 </a:t>
            </a:r>
            <a:r>
              <a:rPr lang="ko-KR" altLang="en-US" b="1" u="sng" dirty="0" err="1">
                <a:solidFill>
                  <a:schemeClr val="bg1"/>
                </a:solidFill>
              </a:rPr>
              <a:t>피쳐</a:t>
            </a:r>
            <a:r>
              <a:rPr lang="ko-KR" altLang="en-US" b="1" u="sng" dirty="0">
                <a:solidFill>
                  <a:schemeClr val="bg1"/>
                </a:solidFill>
              </a:rPr>
              <a:t> 엔지니어링의 새로운 프레임워크를 제시합니다</a:t>
            </a:r>
            <a:r>
              <a:rPr lang="en-US" altLang="ko-KR" b="1" u="sng" dirty="0">
                <a:solidFill>
                  <a:schemeClr val="bg1"/>
                </a:solidFill>
              </a:rPr>
              <a:t>.</a:t>
            </a:r>
          </a:p>
          <a:p>
            <a:endParaRPr lang="en-US" altLang="ko-KR" b="1" u="sng" dirty="0">
              <a:solidFill>
                <a:schemeClr val="bg1"/>
              </a:solidFill>
            </a:endParaRPr>
          </a:p>
          <a:p>
            <a:r>
              <a:rPr lang="ko-KR" altLang="en-US" b="1" u="sng" dirty="0">
                <a:solidFill>
                  <a:schemeClr val="bg1"/>
                </a:solidFill>
              </a:rPr>
              <a:t>주어진 옵션의 공간을 체계적이고 간결하게 열거하는 변형 그래프를 이용한 성능 중심의 탐험을 기반으로 합니다</a:t>
            </a:r>
            <a:r>
              <a:rPr lang="en-US" altLang="ko-KR" b="1" u="sng" dirty="0">
                <a:solidFill>
                  <a:schemeClr val="bg1"/>
                </a:solidFill>
              </a:rPr>
              <a:t>.</a:t>
            </a:r>
          </a:p>
          <a:p>
            <a:endParaRPr lang="en-US" altLang="ko-KR" b="1" u="sng" dirty="0">
              <a:solidFill>
                <a:schemeClr val="bg1"/>
              </a:solidFill>
            </a:endParaRPr>
          </a:p>
          <a:p>
            <a:r>
              <a:rPr lang="ko-KR" altLang="en-US" b="1" u="sng" dirty="0">
                <a:solidFill>
                  <a:schemeClr val="bg1"/>
                </a:solidFill>
              </a:rPr>
              <a:t>고도로 효율적인 탐험 전략은 과거 사례에 대한 강화학습을 통해 도출됩니다</a:t>
            </a:r>
            <a:r>
              <a:rPr lang="en-US" altLang="ko-KR" b="1" u="sng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93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314856-7A14-4F72-BC1C-2D0E447A3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1AD965A1-2161-4D92-8242-DD33017027D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7021" t="45533" r="51711" b="27405"/>
          <a:stretch/>
        </p:blipFill>
        <p:spPr>
          <a:xfrm>
            <a:off x="396537" y="615797"/>
            <a:ext cx="7816242" cy="5594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2D5EA0-C6A6-4F9D-9FC9-AC423D05C9F9}"/>
              </a:ext>
            </a:extLst>
          </p:cNvPr>
          <p:cNvSpPr txBox="1"/>
          <p:nvPr/>
        </p:nvSpPr>
        <p:spPr>
          <a:xfrm>
            <a:off x="739210" y="1610742"/>
            <a:ext cx="7130896" cy="452431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엔지니어링은 예측 모델을 만드는 데 중요한 과정입니다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엔지니어링은 주어진 타겟에 대한 모델링 에러를 줄이기 위해 수학적 함수를 이용하여 주어진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스페이스를 변형하는 것을 포함합니다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그러나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엔지니어링을 효과적으로 수행하는 방법이 없습니다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도메인 지식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직관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기나긴 시행착오가 필요한 분야입니다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이 논문은 자동화된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엔지니어링의 새로운 프레임워크를 제시합니다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주어진 옵션의 공간을 체계적이고 간결하게 열거하는 </a:t>
            </a:r>
            <a:r>
              <a:rPr lang="ko-KR" altLang="en-US" dirty="0">
                <a:solidFill>
                  <a:srgbClr val="FF0000"/>
                </a:solidFill>
              </a:rPr>
              <a:t>변형 그래프</a:t>
            </a:r>
            <a:r>
              <a:rPr lang="ko-KR" altLang="en-US" dirty="0">
                <a:solidFill>
                  <a:schemeClr val="bg1"/>
                </a:solidFill>
              </a:rPr>
              <a:t>를 이용한 성능 중심의 탐험을 기반으로 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고도로 효율적인 탐험 전략은 과거 사례에 대한 강화학습을 통해 도출됩니다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057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05928-998C-4042-8812-7FDD629B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변형 그래프</a:t>
            </a:r>
            <a:r>
              <a:rPr lang="en-US" altLang="ko-KR" dirty="0"/>
              <a:t>(Transformation Graph)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314856-7A14-4F72-BC1C-2D0E447A3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/>
              <a:t>D0,</a:t>
            </a:r>
            <a:r>
              <a:rPr lang="ko-KR" altLang="en-US" dirty="0"/>
              <a:t> </a:t>
            </a:r>
            <a:r>
              <a:rPr lang="en-US" altLang="ko-KR" dirty="0"/>
              <a:t>hierarchical</a:t>
            </a:r>
            <a:r>
              <a:rPr lang="ko-KR" altLang="en-US" dirty="0"/>
              <a:t> </a:t>
            </a:r>
            <a:r>
              <a:rPr lang="en-US" altLang="ko-KR" dirty="0"/>
              <a:t>nodes,</a:t>
            </a:r>
            <a:r>
              <a:rPr lang="ko-KR" altLang="en-US" dirty="0"/>
              <a:t> </a:t>
            </a:r>
            <a:r>
              <a:rPr lang="en-US" altLang="ko-KR" dirty="0"/>
              <a:t>sum</a:t>
            </a:r>
            <a:r>
              <a:rPr lang="ko-KR" altLang="en-US" dirty="0"/>
              <a:t> </a:t>
            </a:r>
            <a:r>
              <a:rPr lang="en-US" altLang="ko-KR" dirty="0"/>
              <a:t>nodes,</a:t>
            </a:r>
            <a:r>
              <a:rPr lang="ko-KR" altLang="en-US" dirty="0"/>
              <a:t> </a:t>
            </a:r>
            <a:r>
              <a:rPr lang="en-US" altLang="ko-KR" dirty="0"/>
              <a:t>transformation,</a:t>
            </a:r>
            <a:r>
              <a:rPr lang="ko-KR" altLang="en-US" dirty="0"/>
              <a:t> </a:t>
            </a:r>
            <a:r>
              <a:rPr lang="en-US" altLang="ko-KR" dirty="0"/>
              <a:t>FS</a:t>
            </a:r>
            <a:endParaRPr lang="ko-KR" altLang="en-US" dirty="0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5E9A57D2-CBDF-43E0-B738-0296387EA7DA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ED15B9A-095E-4075-8223-578E29D67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455" y="0"/>
            <a:ext cx="5792726" cy="455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7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314856-7A14-4F72-BC1C-2D0E447A3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1AD965A1-2161-4D92-8242-DD33017027D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7021" t="45533" r="51711" b="27405"/>
          <a:stretch/>
        </p:blipFill>
        <p:spPr>
          <a:xfrm>
            <a:off x="396537" y="615797"/>
            <a:ext cx="7816242" cy="5594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2D5EA0-C6A6-4F9D-9FC9-AC423D05C9F9}"/>
              </a:ext>
            </a:extLst>
          </p:cNvPr>
          <p:cNvSpPr txBox="1"/>
          <p:nvPr/>
        </p:nvSpPr>
        <p:spPr>
          <a:xfrm>
            <a:off x="739210" y="1610742"/>
            <a:ext cx="7130896" cy="452431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엔지니어링은 예측 모델을 만드는 데 중요한 과정입니다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엔지니어링은 주어진 타겟에 대한 모델링 에러를 줄이기 위해 수학적 함수를 이용하여 주어진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스페이스를 변형하는 것을 포함합니다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그러나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엔지니어링을 효과적으로 수행하는 방법이 없습니다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도메인 지식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직관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기나긴 시행착오가 필요한 분야입니다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이 논문은 자동화된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엔지니어링의 새로운 프레임워크를 제시합니다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주어진 옵션의 공간을 체계적이고 간결하게 열거하는 변형 그래프를 이용한 </a:t>
            </a:r>
            <a:r>
              <a:rPr lang="ko-KR" altLang="en-US" dirty="0">
                <a:solidFill>
                  <a:srgbClr val="FF0000"/>
                </a:solidFill>
              </a:rPr>
              <a:t>성능 중심의 탐험</a:t>
            </a:r>
            <a:r>
              <a:rPr lang="ko-KR" altLang="en-US" dirty="0">
                <a:solidFill>
                  <a:schemeClr val="bg1"/>
                </a:solidFill>
              </a:rPr>
              <a:t>을 기반으로 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고도로 효율적인 탐험 전략은 과거 사례에 대한 강화학습을 통해 도출됩니다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680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240EB37-CA65-4288-8FA3-D61A4D3CB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983" y="1051402"/>
            <a:ext cx="7058760" cy="455040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EB1B508-5D78-4EBF-9711-0F0B56457E16}"/>
              </a:ext>
            </a:extLst>
          </p:cNvPr>
          <p:cNvSpPr/>
          <p:nvPr/>
        </p:nvSpPr>
        <p:spPr>
          <a:xfrm>
            <a:off x="4119239" y="1615737"/>
            <a:ext cx="1624613" cy="37286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92DCD-85EE-4230-8E22-91BD1B7AF929}"/>
              </a:ext>
            </a:extLst>
          </p:cNvPr>
          <p:cNvSpPr txBox="1"/>
          <p:nvPr/>
        </p:nvSpPr>
        <p:spPr>
          <a:xfrm>
            <a:off x="9410330" y="4261282"/>
            <a:ext cx="1467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Budget</a:t>
            </a:r>
            <a:r>
              <a:rPr lang="ko-KR" altLang="en-US" dirty="0"/>
              <a:t> </a:t>
            </a:r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max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433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314856-7A14-4F72-BC1C-2D0E447A3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개체 틀 5">
            <a:extLst>
              <a:ext uri="{FF2B5EF4-FFF2-40B4-BE49-F238E27FC236}">
                <a16:creationId xmlns:a16="http://schemas.microsoft.com/office/drawing/2014/main" id="{1AD965A1-2161-4D92-8242-DD33017027D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27021" t="45533" r="51711" b="27405"/>
          <a:stretch/>
        </p:blipFill>
        <p:spPr>
          <a:xfrm>
            <a:off x="396537" y="615797"/>
            <a:ext cx="7816242" cy="55945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2D5EA0-C6A6-4F9D-9FC9-AC423D05C9F9}"/>
              </a:ext>
            </a:extLst>
          </p:cNvPr>
          <p:cNvSpPr txBox="1"/>
          <p:nvPr/>
        </p:nvSpPr>
        <p:spPr>
          <a:xfrm>
            <a:off x="739210" y="1610742"/>
            <a:ext cx="7130896" cy="452431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엔지니어링은 예측 모델을 만드는 데 중요한 과정입니다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엔지니어링은 주어진 타겟에 대한 모델링 에러를 줄이기 위해 수학적 함수를 이용하여 주어진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스페이스를 변형하는 것을 포함합니다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그러나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엔지니어링을 효과적으로 수행하는 방법이 없습니다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도메인 지식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직관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기나긴 시행착오가 필요한 분야입니다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이 논문은 자동화된 </a:t>
            </a:r>
            <a:r>
              <a:rPr lang="ko-KR" altLang="en-US" dirty="0" err="1">
                <a:solidFill>
                  <a:schemeClr val="bg1"/>
                </a:solidFill>
              </a:rPr>
              <a:t>피쳐</a:t>
            </a:r>
            <a:r>
              <a:rPr lang="ko-KR" altLang="en-US" dirty="0">
                <a:solidFill>
                  <a:schemeClr val="bg1"/>
                </a:solidFill>
              </a:rPr>
              <a:t> 엔지니어링의 새로운 프레임워크를 제시합니다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주어진 옵션의 공간을 체계적이고 간결하게 열거하는 변형 그래프를 이용한 성능 중심의 탐험을 기반으로 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dirty="0">
                <a:solidFill>
                  <a:schemeClr val="bg1"/>
                </a:solidFill>
              </a:rPr>
              <a:t>고도로 효율적인 탐험 전략은 과거 사례에 대한 </a:t>
            </a:r>
            <a:r>
              <a:rPr lang="ko-KR" altLang="en-US" dirty="0">
                <a:solidFill>
                  <a:srgbClr val="FF0000"/>
                </a:solidFill>
              </a:rPr>
              <a:t>강화학습</a:t>
            </a:r>
            <a:r>
              <a:rPr lang="ko-KR" altLang="en-US" dirty="0">
                <a:solidFill>
                  <a:schemeClr val="bg1"/>
                </a:solidFill>
              </a:rPr>
              <a:t>을 통해 도출됩니다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111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D5849-B354-4268-A1B1-4D98753C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4255443" cy="1499616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강화학습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9F306-F3F2-4AB1-AAEC-4FAA38CF4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5999"/>
            <a:ext cx="4862322" cy="4257675"/>
          </a:xfrm>
        </p:spPr>
        <p:txBody>
          <a:bodyPr>
            <a:normAutofit/>
          </a:bodyPr>
          <a:lstStyle/>
          <a:p>
            <a:r>
              <a:rPr lang="en-US" altLang="ko-KR" sz="1600" dirty="0"/>
              <a:t>Reward : accuracy implementation</a:t>
            </a:r>
          </a:p>
          <a:p>
            <a:r>
              <a:rPr lang="en-US" altLang="ko-KR" sz="1600" dirty="0"/>
              <a:t>State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transformation graph, </a:t>
            </a:r>
            <a:r>
              <a:rPr lang="en-US" altLang="ko-KR" sz="1600" u="sng" dirty="0"/>
              <a:t>remaining budge</a:t>
            </a:r>
          </a:p>
          <a:p>
            <a:r>
              <a:rPr lang="en-US" altLang="ko-KR" sz="1600" dirty="0"/>
              <a:t>Action: &lt;</a:t>
            </a:r>
            <a:r>
              <a:rPr lang="en-US" altLang="ko-KR" sz="1600" dirty="0" err="1"/>
              <a:t>n,t</a:t>
            </a:r>
            <a:r>
              <a:rPr lang="en-US" altLang="ko-KR" sz="1600" dirty="0"/>
              <a:t>&gt;</a:t>
            </a:r>
          </a:p>
          <a:p>
            <a:endParaRPr lang="en-US" altLang="ko-KR" sz="1600" dirty="0"/>
          </a:p>
          <a:p>
            <a:r>
              <a:rPr lang="en-US" altLang="ko-KR" sz="1600" dirty="0"/>
              <a:t>Policy :  Q(s, G) = </a:t>
            </a:r>
            <a:r>
              <a:rPr lang="en-US" altLang="ko-KR" sz="1600" dirty="0" err="1"/>
              <a:t>w.f</a:t>
            </a:r>
            <a:r>
              <a:rPr lang="en-US" altLang="ko-KR" sz="1600" dirty="0"/>
              <a:t>(s)</a:t>
            </a:r>
          </a:p>
          <a:p>
            <a:r>
              <a:rPr lang="en-US" altLang="ko-KR" sz="1600" dirty="0"/>
              <a:t> (w</a:t>
            </a:r>
            <a:r>
              <a:rPr lang="ko-KR" altLang="en-US" sz="1600" dirty="0"/>
              <a:t>는 </a:t>
            </a:r>
            <a:r>
              <a:rPr lang="en-US" altLang="ko-KR" sz="1600" dirty="0"/>
              <a:t>action</a:t>
            </a:r>
            <a:r>
              <a:rPr lang="ko-KR" altLang="en-US" sz="1600" dirty="0"/>
              <a:t>에 대한 </a:t>
            </a:r>
            <a:r>
              <a:rPr lang="en-US" altLang="ko-KR" sz="1600" dirty="0"/>
              <a:t>weight function</a:t>
            </a:r>
          </a:p>
          <a:p>
            <a:endParaRPr lang="en-US" altLang="ko-KR" sz="1600" dirty="0"/>
          </a:p>
          <a:p>
            <a:r>
              <a:rPr lang="en-US" altLang="ko-KR" sz="1600" dirty="0"/>
              <a:t>f(s) = f(</a:t>
            </a:r>
            <a:r>
              <a:rPr lang="en-US" altLang="ko-KR" sz="1600" dirty="0" err="1"/>
              <a:t>g,n,t,b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)</a:t>
            </a:r>
          </a:p>
          <a:p>
            <a:endParaRPr lang="ko-KR" altLang="en-US" sz="16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F0C2FD-5D15-4AEF-9DBF-8C200392A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181771"/>
            <a:ext cx="5678424" cy="44670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3E6BE92-17CA-4EFA-8F3B-FF66FD8F8E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788"/>
          <a:stretch/>
        </p:blipFill>
        <p:spPr>
          <a:xfrm>
            <a:off x="1213511" y="4724400"/>
            <a:ext cx="3876675" cy="22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0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1760F-AF7E-44FE-B49C-C9064E6C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선택법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440EE5-9BBF-462A-AA55-03982D2D3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-</a:t>
            </a:r>
            <a:r>
              <a:rPr lang="ko-KR" altLang="en-US" sz="2800" dirty="0">
                <a:solidFill>
                  <a:srgbClr val="FFFF00"/>
                </a:solidFill>
              </a:rPr>
              <a:t>전진적 선택 </a:t>
            </a:r>
            <a:r>
              <a:rPr lang="en-US" altLang="ko-KR" sz="2800" dirty="0">
                <a:solidFill>
                  <a:srgbClr val="FFFF00"/>
                </a:solidFill>
              </a:rPr>
              <a:t>(Forward selection)</a:t>
            </a:r>
          </a:p>
          <a:p>
            <a:r>
              <a:rPr lang="ko-KR" altLang="en-US" sz="2800" dirty="0"/>
              <a:t>아무것도 선택하지 않은 상태에서 시작</a:t>
            </a:r>
            <a:r>
              <a:rPr lang="en-US" altLang="ko-KR" sz="2800" dirty="0"/>
              <a:t>, </a:t>
            </a:r>
            <a:r>
              <a:rPr lang="ko-KR" altLang="en-US" sz="2800" dirty="0"/>
              <a:t>유의성 있는 변수들을 선택하는 작업을 반복</a:t>
            </a:r>
            <a:endParaRPr lang="en-US" altLang="ko-KR" sz="2800" dirty="0"/>
          </a:p>
          <a:p>
            <a:r>
              <a:rPr lang="en-US" altLang="ko-KR" sz="2800" dirty="0"/>
              <a:t>-</a:t>
            </a:r>
            <a:r>
              <a:rPr lang="ko-KR" altLang="en-US" sz="2800" dirty="0">
                <a:solidFill>
                  <a:srgbClr val="FFFF00"/>
                </a:solidFill>
              </a:rPr>
              <a:t>후진적 제거</a:t>
            </a:r>
            <a:r>
              <a:rPr lang="en-US" altLang="ko-KR" sz="2800" dirty="0">
                <a:solidFill>
                  <a:srgbClr val="FFFF00"/>
                </a:solidFill>
              </a:rPr>
              <a:t>(Backward selection)</a:t>
            </a:r>
          </a:p>
          <a:p>
            <a:r>
              <a:rPr lang="ko-KR" altLang="en-US" sz="2800" dirty="0"/>
              <a:t>모든 변수를 다 선택한 상태에서 시작</a:t>
            </a:r>
            <a:r>
              <a:rPr lang="en-US" altLang="ko-KR" sz="2800" dirty="0"/>
              <a:t>, </a:t>
            </a:r>
            <a:r>
              <a:rPr lang="ko-KR" altLang="en-US" sz="2800" dirty="0"/>
              <a:t>유의성 없는 변수를 제거하는 작업을 반복</a:t>
            </a:r>
            <a:endParaRPr lang="en-US" altLang="ko-KR" sz="2800" dirty="0"/>
          </a:p>
          <a:p>
            <a:r>
              <a:rPr lang="en-US" altLang="ko-KR" sz="2800" dirty="0"/>
              <a:t>-</a:t>
            </a:r>
            <a:r>
              <a:rPr lang="ko-KR" altLang="en-US" sz="2800" dirty="0">
                <a:solidFill>
                  <a:srgbClr val="FFFF00"/>
                </a:solidFill>
              </a:rPr>
              <a:t>단계적 선택</a:t>
            </a:r>
            <a:r>
              <a:rPr lang="en-US" altLang="ko-KR" sz="2800" dirty="0">
                <a:solidFill>
                  <a:srgbClr val="FFFF00"/>
                </a:solidFill>
              </a:rPr>
              <a:t>(Stepwise selection)</a:t>
            </a:r>
          </a:p>
          <a:p>
            <a:r>
              <a:rPr lang="ko-KR" altLang="en-US" sz="2800" dirty="0"/>
              <a:t>아무것도 하지 않은 상태에서 시작</a:t>
            </a:r>
            <a:r>
              <a:rPr lang="en-US" altLang="ko-KR" sz="2800" dirty="0"/>
              <a:t>, </a:t>
            </a:r>
            <a:r>
              <a:rPr lang="ko-KR" altLang="en-US" sz="2800" dirty="0"/>
              <a:t>변수 선택과 변수 제거를 반복적으로 실행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6991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0C03E-06C5-42D5-8DE0-6DDCE572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강화학습 </a:t>
            </a:r>
            <a:r>
              <a:rPr lang="en-US" altLang="ko-KR" dirty="0"/>
              <a:t>feature selection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2F4231-E0DA-4ACD-8E7B-57FC3F1C4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변수 간의 공선성을 </a:t>
            </a:r>
            <a:r>
              <a:rPr lang="en-US" altLang="ko-KR" dirty="0"/>
              <a:t>state,</a:t>
            </a:r>
            <a:r>
              <a:rPr lang="ko-KR" altLang="en-US" dirty="0"/>
              <a:t> </a:t>
            </a:r>
            <a:r>
              <a:rPr lang="en-US" altLang="ko-KR" dirty="0"/>
              <a:t>action </a:t>
            </a:r>
            <a:r>
              <a:rPr lang="ko-KR" altLang="en-US" dirty="0"/>
              <a:t>을 각 변수를 포함시키느냐 마느냐</a:t>
            </a:r>
            <a:r>
              <a:rPr lang="en-US" altLang="ko-KR" dirty="0"/>
              <a:t>, reward </a:t>
            </a:r>
            <a:r>
              <a:rPr lang="ko-KR" altLang="en-US" dirty="0"/>
              <a:t>는 </a:t>
            </a:r>
            <a:r>
              <a:rPr lang="en-US" altLang="ko-KR" dirty="0"/>
              <a:t>accuracy </a:t>
            </a:r>
            <a:r>
              <a:rPr lang="ko-KR" altLang="en-US" dirty="0"/>
              <a:t>증가</a:t>
            </a:r>
          </a:p>
        </p:txBody>
      </p:sp>
      <p:pic>
        <p:nvPicPr>
          <p:cNvPr id="2050" name="Picture 2" descr="ë³ì ê°ì correlaì ëí ì´ë¯¸ì§ ê²ìê²°ê³¼">
            <a:extLst>
              <a:ext uri="{FF2B5EF4-FFF2-40B4-BE49-F238E27FC236}">
                <a16:creationId xmlns:a16="http://schemas.microsoft.com/office/drawing/2014/main" id="{E20EC744-2F93-4F6B-BE49-7DF4AF7C6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112" y="3291459"/>
            <a:ext cx="4295775" cy="29813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694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901DFED-E942-434E-B7A6-7B86C1DA3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728" y="1812998"/>
            <a:ext cx="12233728" cy="27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1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776F6-1B65-4AF9-B825-1653B07D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E9B1E55-0820-432D-9967-B722F88C70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5774"/>
          <a:stretch/>
        </p:blipFill>
        <p:spPr>
          <a:xfrm>
            <a:off x="904515" y="1929008"/>
            <a:ext cx="6197743" cy="485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78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57D45-2DE9-461B-88A3-761C414B8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1D81A0-1AF9-4EBB-A3D2-033E60248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 값 함수 근사치는 큰 상태</a:t>
            </a:r>
            <a:r>
              <a:rPr lang="en-US" altLang="ko-KR" dirty="0"/>
              <a:t>(state)</a:t>
            </a:r>
            <a:r>
              <a:rPr lang="ko-KR" altLang="en-US" dirty="0"/>
              <a:t> 공간에서 보강 학습 문제를 해결하기 위한 일반적인 접근 방법입니다</a:t>
            </a:r>
            <a:r>
              <a:rPr lang="en-US" altLang="ko-KR" dirty="0"/>
              <a:t>.</a:t>
            </a:r>
            <a:br>
              <a:rPr lang="ko-KR" altLang="en-US" dirty="0"/>
            </a:br>
            <a:br>
              <a:rPr lang="ko-KR" altLang="en-US" dirty="0"/>
            </a:br>
            <a:r>
              <a:rPr lang="ko-KR" altLang="en-US" dirty="0"/>
              <a:t>좋은 근사 </a:t>
            </a:r>
            <a:r>
              <a:rPr lang="en-US" altLang="ko-KR" dirty="0"/>
              <a:t>feature</a:t>
            </a:r>
            <a:r>
              <a:rPr lang="ko-KR" altLang="en-US" dirty="0"/>
              <a:t>을 설계하는 것이 어렵기 때문에 자동 </a:t>
            </a:r>
            <a:r>
              <a:rPr lang="en-US" altLang="ko-KR" dirty="0"/>
              <a:t>feature</a:t>
            </a:r>
            <a:r>
              <a:rPr lang="ko-KR" altLang="en-US" dirty="0"/>
              <a:t> 선택은 중요한 연구 주제이다</a:t>
            </a:r>
            <a:r>
              <a:rPr lang="en-US" altLang="ko-KR" dirty="0"/>
              <a:t>.</a:t>
            </a:r>
            <a:br>
              <a:rPr lang="ko-KR" altLang="en-US" dirty="0"/>
            </a:br>
            <a:br>
              <a:rPr lang="ko-KR" altLang="en-US" dirty="0"/>
            </a:br>
            <a:r>
              <a:rPr lang="en-US" altLang="ko-KR" dirty="0"/>
              <a:t>transition</a:t>
            </a:r>
            <a:r>
              <a:rPr lang="ko-KR" altLang="en-US" dirty="0"/>
              <a:t> 매트릭스의 </a:t>
            </a:r>
            <a:r>
              <a:rPr lang="en-US" altLang="ko-KR" dirty="0"/>
              <a:t>low-rank factorization</a:t>
            </a:r>
            <a:r>
              <a:rPr lang="ko-KR" altLang="en-US" dirty="0"/>
              <a:t>을 기반으로 하는 </a:t>
            </a:r>
            <a:r>
              <a:rPr lang="en-US" altLang="ko-KR" dirty="0"/>
              <a:t>feature</a:t>
            </a:r>
            <a:r>
              <a:rPr lang="ko-KR" altLang="en-US" dirty="0"/>
              <a:t> 선택을 위한 새로운 방법을 제안합니다</a:t>
            </a:r>
            <a:r>
              <a:rPr lang="en-US" altLang="ko-KR" dirty="0"/>
              <a:t>. </a:t>
            </a:r>
            <a:br>
              <a:rPr lang="ko-KR" altLang="en-US" dirty="0"/>
            </a:br>
            <a:br>
              <a:rPr lang="ko-KR" altLang="en-US" dirty="0"/>
            </a:br>
            <a:r>
              <a:rPr lang="ko-KR" altLang="en-US" dirty="0"/>
              <a:t>당사의 접근 방식은 이미지 데이터와 같은 고차원 원시 입력에서 직접 </a:t>
            </a:r>
            <a:r>
              <a:rPr lang="en-US" altLang="ko-KR" dirty="0"/>
              <a:t>feature</a:t>
            </a:r>
            <a:r>
              <a:rPr lang="ko-KR" altLang="en-US" dirty="0"/>
              <a:t>를 파생합니다</a:t>
            </a:r>
            <a:r>
              <a:rPr lang="en-US" altLang="ko-KR" dirty="0"/>
              <a:t>. </a:t>
            </a:r>
            <a:br>
              <a:rPr lang="ko-KR" altLang="en-US" dirty="0"/>
            </a:br>
            <a:br>
              <a:rPr lang="ko-KR" altLang="en-US" dirty="0"/>
            </a:br>
            <a:r>
              <a:rPr lang="ko-KR" altLang="en-US" dirty="0"/>
              <a:t>이 방법은 </a:t>
            </a:r>
            <a:r>
              <a:rPr lang="en-US" altLang="ko-KR" dirty="0"/>
              <a:t>SVD</a:t>
            </a:r>
            <a:r>
              <a:rPr lang="ko-KR" altLang="en-US" dirty="0"/>
              <a:t>를 사용하여 구현하기 쉬우며</a:t>
            </a:r>
            <a:r>
              <a:rPr lang="en-US" altLang="ko-KR" dirty="0"/>
              <a:t>, </a:t>
            </a:r>
            <a:r>
              <a:rPr lang="ko-KR" altLang="en-US" dirty="0"/>
              <a:t>우리의 실험은 그것이 다른 방법보다 빠르고 안정적이라는 것을 보여준다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9866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3C601-F199-4594-B418-2D2289111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selection by singular value decomposition for RL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B30320-591B-43FD-B3F5-870A6FD2B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solidFill>
                  <a:srgbClr val="FFFF00"/>
                </a:solidFill>
              </a:rPr>
              <a:t>Our approach derives features directly from high-dimensional raw inputs, such as image data. </a:t>
            </a:r>
          </a:p>
          <a:p>
            <a:endParaRPr lang="en-US" altLang="ko-KR" sz="3600" dirty="0">
              <a:solidFill>
                <a:srgbClr val="FFFF00"/>
              </a:solidFill>
            </a:endParaRPr>
          </a:p>
          <a:p>
            <a:r>
              <a:rPr lang="en-US" altLang="ko-KR" sz="3600" dirty="0"/>
              <a:t>We propose SVD+R, a new feature construction technique that computes a low-rank approximation of the transition probabilities.</a:t>
            </a:r>
            <a:endParaRPr lang="ko-KR" altLang="en-US" sz="3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933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C9523-18A7-469B-BFDA-ACA20F4D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value function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2F6B4B-1B59-408D-AA0E-247FCBBEB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solidFill>
                  <a:srgbClr val="FFFF00"/>
                </a:solidFill>
              </a:rPr>
              <a:t>Linear value function approximation is a standard approach </a:t>
            </a:r>
            <a:r>
              <a:rPr lang="en-US" altLang="ko-KR" sz="4000" dirty="0"/>
              <a:t>to solving reinforcement learning problems with a large state space</a:t>
            </a:r>
            <a:endParaRPr lang="ko-KR" altLang="en-US" sz="4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8920E0-362F-4BCD-9E63-43103DE7AFD3}"/>
              </a:ext>
            </a:extLst>
          </p:cNvPr>
          <p:cNvSpPr/>
          <p:nvPr/>
        </p:nvSpPr>
        <p:spPr>
          <a:xfrm>
            <a:off x="2412948" y="4394691"/>
            <a:ext cx="63401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이런 </a:t>
            </a:r>
            <a:r>
              <a:rPr lang="en-US" altLang="ko-KR" sz="540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Standard</a:t>
            </a:r>
            <a:r>
              <a:rPr lang="ko-KR" altLang="en-US" sz="540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를 깨뜨린다</a:t>
            </a:r>
            <a:r>
              <a:rPr lang="en-US" altLang="ko-KR" sz="5400" dirty="0">
                <a:ln w="0"/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!</a:t>
            </a:r>
            <a:endParaRPr lang="en-US" altLang="ko-KR" sz="5400" b="0" cap="none" spc="0" dirty="0">
              <a:ln w="0"/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74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9B59C-1999-4A76-8F3B-7058C3D46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여기서 사용한 중요한 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91F168-6413-4788-8AAA-58798E4B4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 the transition matrix that predicts expected next feature vector can be approximated using a </a:t>
            </a:r>
            <a:r>
              <a:rPr lang="en-US" altLang="ko-KR" sz="4000" dirty="0">
                <a:solidFill>
                  <a:srgbClr val="FFFF00"/>
                </a:solidFill>
              </a:rPr>
              <a:t>low-rank matrix</a:t>
            </a:r>
            <a:endParaRPr lang="ko-KR" altLang="en-US" sz="40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053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9D86D-A0DE-43B8-A888-08441C9A6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Value Function </a:t>
            </a:r>
            <a:r>
              <a:rPr lang="en-US" altLang="ko-KR" dirty="0" err="1"/>
              <a:t>Apporximation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7D2165-91B4-4372-BDA1-813CB504D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797FB8-5FB8-4389-8E24-ED9EC26A4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286000"/>
            <a:ext cx="4439970" cy="965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1B8947F-5A13-43F7-AA15-A5B19B808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141" y="3131301"/>
            <a:ext cx="4993913" cy="9652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0D6FC22-5D69-4B59-8C0F-E97CB18CE2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157" y="4156885"/>
            <a:ext cx="7344424" cy="7267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760F09-D1F6-4421-8ACA-5D8C77AF94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3407" y="4971862"/>
            <a:ext cx="5750817" cy="119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93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0C7E6B-2ADE-4849-B02C-4352740E0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Value Function </a:t>
            </a:r>
            <a:r>
              <a:rPr lang="en-US" altLang="ko-KR" dirty="0" err="1"/>
              <a:t>Apporximation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54231E0-81E7-4D69-8EDF-8A9821A25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721B6D-5BAF-49EC-9026-0217C2F90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9" y="2286000"/>
            <a:ext cx="6228442" cy="206586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E3E9FF0-153A-4017-BA4A-B506BD371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304" y="4383632"/>
            <a:ext cx="6901189" cy="188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23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8AC31-509C-4B11-88D2-C87B027A7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SVD+R: A Low-rank Approximation for Feature Construction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24EFC1-EC25-47C5-BABA-D818C59D6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242355"/>
            <a:ext cx="7957034" cy="324977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EFAA2D6-2C6E-4271-8844-1E976DBAA9DC}"/>
              </a:ext>
            </a:extLst>
          </p:cNvPr>
          <p:cNvSpPr/>
          <p:nvPr/>
        </p:nvSpPr>
        <p:spPr>
          <a:xfrm>
            <a:off x="729226" y="2727993"/>
            <a:ext cx="854683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dirty="0">
                <a:solidFill>
                  <a:srgbClr val="FF0000"/>
                </a:solidFill>
              </a:rPr>
              <a:t>However, such low-rank matrices are rare in practice.</a:t>
            </a:r>
            <a:endParaRPr lang="en-US" altLang="ko-KR" sz="5400" b="0" cap="none" spc="0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4287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D3EC6-63FB-4B6D-AF5B-006DE0B9C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SVD+R: A Low-rank Approximation for Feature Construction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47BCBA-ECAA-48C6-9759-4285E7106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63" y="2413935"/>
            <a:ext cx="9780950" cy="185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62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B218D-E9D4-47EB-82F3-D1883FF61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SVD+R: A Low-rank Approximation for Feature Construction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4AFAC96-40E6-4CE8-9341-F6EDC8AB7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2624" y="2477174"/>
            <a:ext cx="8675068" cy="322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539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554FA9-71B9-4D9E-89BD-3883F9645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Relationship to Linear Feature Discovery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7CF0D7-8018-437F-910E-013F02C9E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3133724"/>
            <a:ext cx="9720073" cy="3175635"/>
          </a:xfrm>
        </p:spPr>
        <p:txBody>
          <a:bodyPr/>
          <a:lstStyle/>
          <a:p>
            <a:r>
              <a:rPr lang="en-US" altLang="ko-KR" dirty="0"/>
              <a:t>A low-rank encoder Eπ is predictively optimal if there exist decoders Dπ s and Dπ r </a:t>
            </a:r>
          </a:p>
          <a:p>
            <a:r>
              <a:rPr lang="en-US" altLang="ko-KR" dirty="0">
                <a:solidFill>
                  <a:srgbClr val="FFFF00"/>
                </a:solidFill>
              </a:rPr>
              <a:t>(predictive optimal feature encoding)</a:t>
            </a:r>
          </a:p>
          <a:p>
            <a:r>
              <a:rPr lang="en-US" altLang="ko-KR" dirty="0"/>
              <a:t>Song et al. (2016) show that when an encoder and decoder are predictively optimal, then the Bellman error is 0</a:t>
            </a:r>
          </a:p>
          <a:p>
            <a:endParaRPr lang="en-US" altLang="ko-KR" dirty="0"/>
          </a:p>
          <a:p>
            <a:r>
              <a:rPr lang="en-US" altLang="ko-KR" dirty="0"/>
              <a:t>But… (LFD &lt;-&gt; SVD</a:t>
            </a:r>
            <a:r>
              <a:rPr lang="ko-KR" altLang="en-US" dirty="0"/>
              <a:t>인 이유는</a:t>
            </a:r>
            <a:r>
              <a:rPr lang="en-US" altLang="ko-KR" dirty="0"/>
              <a:t> optimal</a:t>
            </a:r>
            <a:r>
              <a:rPr lang="ko-KR" altLang="en-US" dirty="0"/>
              <a:t>이 없어서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8E9E43C-6FC5-40FB-BF4D-FA2196C2D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4" y="2052065"/>
            <a:ext cx="7577043" cy="92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02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9C9E9-E6A9-4F02-AADF-0080AE06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n-US" altLang="ko-KR" dirty="0"/>
              <a:t>Cart-pole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9E257A-AB48-4DC6-805D-B2FEB5963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650" y="640080"/>
            <a:ext cx="3506887" cy="262805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FFA860F-6BF5-4790-B7A1-F8FF6696F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763" y="3589867"/>
            <a:ext cx="3616662" cy="2628053"/>
          </a:xfrm>
          <a:prstGeom prst="rect">
            <a:avLst/>
          </a:prstGeom>
        </p:spPr>
      </p:pic>
      <p:graphicFrame>
        <p:nvGraphicFramePr>
          <p:cNvPr id="7" name="내용 개체 틀 2">
            <a:extLst>
              <a:ext uri="{FF2B5EF4-FFF2-40B4-BE49-F238E27FC236}">
                <a16:creationId xmlns:a16="http://schemas.microsoft.com/office/drawing/2014/main" id="{ABE0BB8A-3746-4082-AC00-576A3A94D3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59635"/>
              </p:ext>
            </p:extLst>
          </p:nvPr>
        </p:nvGraphicFramePr>
        <p:xfrm>
          <a:off x="1024128" y="2286000"/>
          <a:ext cx="6066818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65457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AD4D1-BE89-4CAD-905B-274241B9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9E4833-2ACA-429D-9612-95FB330BE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SVD+R</a:t>
            </a:r>
            <a:r>
              <a:rPr lang="ko-KR" altLang="en-US" dirty="0"/>
              <a:t>을 이용하여 강화학습에 사용되는 </a:t>
            </a:r>
            <a:r>
              <a:rPr lang="ko-KR" altLang="en-US" dirty="0" err="1"/>
              <a:t>피쳐를</a:t>
            </a:r>
            <a:r>
              <a:rPr lang="ko-KR" altLang="en-US" dirty="0"/>
              <a:t> 만든다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SVD+R,</a:t>
            </a:r>
            <a:r>
              <a:rPr lang="ko-KR" altLang="en-US" dirty="0"/>
              <a:t> </a:t>
            </a:r>
            <a:r>
              <a:rPr lang="en-US" altLang="ko-KR" dirty="0"/>
              <a:t>LFD</a:t>
            </a:r>
            <a:r>
              <a:rPr lang="ko-KR" altLang="en-US" dirty="0"/>
              <a:t>는 모두 잘 작동하지만 </a:t>
            </a:r>
            <a:r>
              <a:rPr lang="en-US" altLang="ko-KR" dirty="0"/>
              <a:t>SVD+R</a:t>
            </a:r>
            <a:r>
              <a:rPr lang="ko-KR" altLang="en-US" dirty="0"/>
              <a:t>이 훨씬 컴퓨팅 복잡성이 낮다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특히 큰 데이터셋에서는 </a:t>
            </a:r>
            <a:r>
              <a:rPr lang="en-US" altLang="ko-KR" dirty="0"/>
              <a:t>SVD+R</a:t>
            </a:r>
            <a:r>
              <a:rPr lang="ko-KR" altLang="en-US" dirty="0"/>
              <a:t>이 더욱 좋다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</a:t>
            </a:r>
            <a:r>
              <a:rPr lang="en-US" altLang="ko-KR" dirty="0"/>
              <a:t>, </a:t>
            </a:r>
            <a:r>
              <a:rPr lang="ko-KR" altLang="en-US" dirty="0"/>
              <a:t>아직 </a:t>
            </a:r>
            <a:r>
              <a:rPr lang="en-US" altLang="ko-KR" dirty="0"/>
              <a:t>LFD</a:t>
            </a:r>
            <a:r>
              <a:rPr lang="ko-KR" altLang="en-US" dirty="0"/>
              <a:t>에 대체할 수 없는 장점</a:t>
            </a:r>
            <a:r>
              <a:rPr lang="en-US" altLang="ko-KR" dirty="0"/>
              <a:t>(</a:t>
            </a:r>
            <a:r>
              <a:rPr lang="ko-KR" altLang="en-US" dirty="0" err="1"/>
              <a:t>뉴럴넷</a:t>
            </a:r>
            <a:r>
              <a:rPr lang="en-US" altLang="ko-KR" dirty="0"/>
              <a:t>, </a:t>
            </a:r>
            <a:r>
              <a:rPr lang="ko-KR" altLang="en-US" dirty="0"/>
              <a:t>인사이트</a:t>
            </a:r>
            <a:r>
              <a:rPr lang="en-US" altLang="ko-KR" dirty="0"/>
              <a:t>)</a:t>
            </a:r>
            <a:r>
              <a:rPr lang="ko-KR" altLang="en-US" dirty="0"/>
              <a:t>이 있어 이걸 다루는 게 우리의 다음 과제이다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261078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C35D5-ABA1-4CF5-8C10-FDB36376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121AA1-25FD-444D-86E4-0FF40E123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B3F128-A1FD-4DE8-A3FF-9E644E3C5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84" y="2826336"/>
            <a:ext cx="407670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5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5DCAA-7B32-49A8-8F6C-237F2248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5508FE-2F47-43AA-8C2B-8FAAB5089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CCECA7-250F-4C44-9B00-D3AEDB4FBC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12"/>
          <a:stretch/>
        </p:blipFill>
        <p:spPr>
          <a:xfrm>
            <a:off x="1254479" y="3151573"/>
            <a:ext cx="4143375" cy="279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5786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34F80-4DE8-4050-AD19-23AA83AC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ABDC1-D255-4311-A183-DA9411E53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FB871F-1EDD-428F-8D4A-0304FBD0D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1033462"/>
            <a:ext cx="819150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946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01BB1-0FE0-4412-8329-99A5BFBC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16F537-7E23-4F2D-9FF8-62FDC7082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7B6DE8-220B-4772-AFA2-C9990511C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799" y="2286000"/>
            <a:ext cx="402907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8013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전체">
  <a:themeElements>
    <a:clrScheme name="전체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전체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전체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1072</Words>
  <Application>Microsoft Office PowerPoint</Application>
  <PresentationFormat>와이드스크린</PresentationFormat>
  <Paragraphs>140</Paragraphs>
  <Slides>33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HY얕은샘물M</vt:lpstr>
      <vt:lpstr>맑은 고딕</vt:lpstr>
      <vt:lpstr>Arial</vt:lpstr>
      <vt:lpstr>Tw Cen MT</vt:lpstr>
      <vt:lpstr>Tw Cen MT Condensed</vt:lpstr>
      <vt:lpstr>Wingdings 3</vt:lpstr>
      <vt:lpstr>전체</vt:lpstr>
      <vt:lpstr>Feature Engineering for Predictive Modeling using Reinforcement Learning</vt:lpstr>
      <vt:lpstr>NAsNet. 모델이 모델을 만들기 시작</vt:lpstr>
      <vt:lpstr>Feature Engineer란?</vt:lpstr>
      <vt:lpstr>Feature Engineering</vt:lpstr>
      <vt:lpstr>PowerPoint 프레젠테이션</vt:lpstr>
      <vt:lpstr>PowerPoint 프레젠테이션</vt:lpstr>
      <vt:lpstr>PowerPoint 프레젠테이션</vt:lpstr>
      <vt:lpstr>PowerPoint 프레젠테이션</vt:lpstr>
      <vt:lpstr>변형 그래프(Transformation Graph)</vt:lpstr>
      <vt:lpstr>PowerPoint 프레젠테이션</vt:lpstr>
      <vt:lpstr>PowerPoint 프레젠테이션</vt:lpstr>
      <vt:lpstr>PowerPoint 프레젠테이션</vt:lpstr>
      <vt:lpstr>강화학습 문제</vt:lpstr>
      <vt:lpstr>변수 선택법</vt:lpstr>
      <vt:lpstr>강화학습 feature selection</vt:lpstr>
      <vt:lpstr>PowerPoint 프레젠테이션</vt:lpstr>
      <vt:lpstr>abstract</vt:lpstr>
      <vt:lpstr>abstract</vt:lpstr>
      <vt:lpstr>Feature selection by singular value decomposition for RL</vt:lpstr>
      <vt:lpstr>Linear value function</vt:lpstr>
      <vt:lpstr>여기서 사용한 중요한 가정</vt:lpstr>
      <vt:lpstr>Linear Value Function Apporximation</vt:lpstr>
      <vt:lpstr>Linear Value Function Apporximation</vt:lpstr>
      <vt:lpstr>SVD+R: A Low-rank Approximation for Feature Construction</vt:lpstr>
      <vt:lpstr>SVD+R: A Low-rank Approximation for Feature Construction</vt:lpstr>
      <vt:lpstr>SVD+R: A Low-rank Approximation for Feature Construction</vt:lpstr>
      <vt:lpstr>Relationship to Linear Feature Discovery</vt:lpstr>
      <vt:lpstr>Cart-pole</vt:lpstr>
      <vt:lpstr>결론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Engineering for Predictive Modeling using Reinforcement Learning</dc:title>
  <dc:creator>윤 도균</dc:creator>
  <cp:lastModifiedBy>윤 도균</cp:lastModifiedBy>
  <cp:revision>4</cp:revision>
  <dcterms:created xsi:type="dcterms:W3CDTF">2018-09-21T05:27:21Z</dcterms:created>
  <dcterms:modified xsi:type="dcterms:W3CDTF">2018-09-21T05:55:27Z</dcterms:modified>
</cp:coreProperties>
</file>